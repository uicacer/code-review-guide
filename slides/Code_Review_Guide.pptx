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794ec279fc78c1d_3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h794ec279fc78c1d_3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794ec279fc78c1d_3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h794ec279fc78c1d_3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794ec279fc78c1d_3_3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h794ec279fc78c1d_3_3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794ec279fc78c1d_3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h794ec279fc78c1d_3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h794ec279fc78c1d_3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h794ec279fc78c1d_3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794ec279fc78c1d_3_3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h794ec279fc78c1d_3_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794ec279fc78c1d_3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h794ec279fc78c1d_3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h794ec279fc78c1d_3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h794ec279fc78c1d_3_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794ec279fc78c1d_3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h794ec279fc78c1d_3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794ec279fc78c1d_3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h794ec279fc78c1d_3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794ec279fc78c1d_3_4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h794ec279fc78c1d_3_4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h794ec279fc78c1d_3_4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h794ec279fc78c1d_3_4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794ec279fc78c1d_3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h794ec279fc78c1d_3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794ec279fc78c1d_3_4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h794ec279fc78c1d_3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h794ec279fc78c1d_3_4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h794ec279fc78c1d_3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794ec279fc78c1d_3_4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h794ec279fc78c1d_3_4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794ec279fc78c1d_3_4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h794ec279fc78c1d_3_4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794ec279fc78c1d_3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h794ec279fc78c1d_3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794ec279fc78c1d_3_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0" name="Google Shape;570;h794ec279fc78c1d_3_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h794ec279fc78c1d_3_5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5" name="Google Shape;585;h794ec279fc78c1d_3_5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h794ec279fc78c1d_3_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h794ec279fc78c1d_3_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794ec279fc78c1d_3_5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3" name="Google Shape;623;h794ec279fc78c1d_3_5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h794ec279fc78c1d_3_5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5" name="Google Shape;645;h794ec279fc78c1d_3_5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h794ec279fc78c1d_3_5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1" name="Google Shape;651;h794ec279fc78c1d_3_5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h794ec279fc78c1d_3_5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h794ec279fc78c1d_3_5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h794ec279fc78c1d_3_6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h794ec279fc78c1d_3_6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h794ec279fc78c1d_3_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h794ec279fc78c1d_3_6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794ec279fc78c1d_3_6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h794ec279fc78c1d_3_6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88174"/>
            <a:ext cx="9174079" cy="52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-88174"/>
            <a:ext cx="9174000" cy="52317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6285064" y="1565793"/>
            <a:ext cx="0" cy="21375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60" name="Google Shape;60;p14"/>
          <p:cNvSpPr txBox="1"/>
          <p:nvPr>
            <p:ph type="title"/>
          </p:nvPr>
        </p:nvSpPr>
        <p:spPr>
          <a:xfrm>
            <a:off x="623887" y="802184"/>
            <a:ext cx="52560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3888" y="2698230"/>
            <a:ext cx="52560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7058" y="2362919"/>
            <a:ext cx="2061687" cy="42351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623887" y="4442791"/>
            <a:ext cx="801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67" name="Google Shape;67;p15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28650" y="1257301"/>
            <a:ext cx="78867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/>
        </p:nvSpPr>
        <p:spPr>
          <a:xfrm>
            <a:off x="6657974" y="4772457"/>
            <a:ext cx="18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48697"/>
            <a:ext cx="9143999" cy="16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1" y="3762103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8650" y="1171575"/>
            <a:ext cx="78867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77" name="Google Shape;77;p16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78" name="Google Shape;78;p16"/>
          <p:cNvSpPr txBox="1"/>
          <p:nvPr/>
        </p:nvSpPr>
        <p:spPr>
          <a:xfrm>
            <a:off x="8071138" y="4772457"/>
            <a:ext cx="44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17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6453404" y="4769428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88174"/>
            <a:ext cx="9174079" cy="52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0" y="-88174"/>
            <a:ext cx="9174000" cy="52317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8"/>
          <p:cNvCxnSpPr/>
          <p:nvPr/>
        </p:nvCxnSpPr>
        <p:spPr>
          <a:xfrm>
            <a:off x="4756067" y="1565793"/>
            <a:ext cx="0" cy="21375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0" name="Google Shape;90;p18"/>
          <p:cNvSpPr txBox="1"/>
          <p:nvPr>
            <p:ph type="title"/>
          </p:nvPr>
        </p:nvSpPr>
        <p:spPr>
          <a:xfrm>
            <a:off x="623888" y="1565793"/>
            <a:ext cx="37641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623888" y="3062963"/>
            <a:ext cx="37641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2779" y="2274716"/>
            <a:ext cx="3338514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623887" y="4442791"/>
            <a:ext cx="801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88174"/>
            <a:ext cx="9174079" cy="52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0" y="-88174"/>
            <a:ext cx="9174000" cy="52317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9"/>
          <p:cNvCxnSpPr/>
          <p:nvPr/>
        </p:nvCxnSpPr>
        <p:spPr>
          <a:xfrm>
            <a:off x="4756067" y="1565793"/>
            <a:ext cx="0" cy="21375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8" name="Google Shape;98;p19"/>
          <p:cNvSpPr txBox="1"/>
          <p:nvPr>
            <p:ph type="title"/>
          </p:nvPr>
        </p:nvSpPr>
        <p:spPr>
          <a:xfrm>
            <a:off x="623888" y="1565792"/>
            <a:ext cx="37641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2779" y="2274716"/>
            <a:ext cx="3338514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623887" y="4442791"/>
            <a:ext cx="801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88174"/>
            <a:ext cx="9174079" cy="52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0" y="-88174"/>
            <a:ext cx="9174000" cy="52317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0"/>
          <p:cNvCxnSpPr/>
          <p:nvPr/>
        </p:nvCxnSpPr>
        <p:spPr>
          <a:xfrm>
            <a:off x="6285064" y="1565793"/>
            <a:ext cx="0" cy="21375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05" name="Google Shape;105;p20"/>
          <p:cNvSpPr txBox="1"/>
          <p:nvPr>
            <p:ph type="title"/>
          </p:nvPr>
        </p:nvSpPr>
        <p:spPr>
          <a:xfrm>
            <a:off x="623887" y="802184"/>
            <a:ext cx="52560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623888" y="2698229"/>
            <a:ext cx="52560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7058" y="2362919"/>
            <a:ext cx="2061687" cy="423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2" type="body"/>
          </p:nvPr>
        </p:nvSpPr>
        <p:spPr>
          <a:xfrm>
            <a:off x="623887" y="4442791"/>
            <a:ext cx="80148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 rotWithShape="1">
          <a:blip r:embed="rId2">
            <a:alphaModFix/>
          </a:blip>
          <a:srcRect b="6747" l="0" r="0" t="6747"/>
          <a:stretch/>
        </p:blipFill>
        <p:spPr>
          <a:xfrm>
            <a:off x="0" y="-35818"/>
            <a:ext cx="9169967" cy="52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/>
          <p:nvPr/>
        </p:nvSpPr>
        <p:spPr>
          <a:xfrm>
            <a:off x="0" y="-35818"/>
            <a:ext cx="9170100" cy="5231700"/>
          </a:xfrm>
          <a:prstGeom prst="rect">
            <a:avLst/>
          </a:prstGeom>
          <a:solidFill>
            <a:srgbClr val="001E66">
              <a:alpha val="6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21"/>
          <p:cNvCxnSpPr/>
          <p:nvPr/>
        </p:nvCxnSpPr>
        <p:spPr>
          <a:xfrm>
            <a:off x="4756067" y="1581380"/>
            <a:ext cx="0" cy="21375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3" name="Google Shape;113;p21"/>
          <p:cNvSpPr txBox="1"/>
          <p:nvPr>
            <p:ph type="ctrTitle"/>
          </p:nvPr>
        </p:nvSpPr>
        <p:spPr>
          <a:xfrm>
            <a:off x="545821" y="1684670"/>
            <a:ext cx="3673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2779" y="2307259"/>
            <a:ext cx="3338514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 rotWithShape="1">
          <a:blip r:embed="rId2">
            <a:alphaModFix/>
          </a:blip>
          <a:srcRect b="6747" l="0" r="0" t="6747"/>
          <a:stretch/>
        </p:blipFill>
        <p:spPr>
          <a:xfrm>
            <a:off x="0" y="-35818"/>
            <a:ext cx="9169967" cy="52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/>
          <p:nvPr/>
        </p:nvSpPr>
        <p:spPr>
          <a:xfrm>
            <a:off x="0" y="-44087"/>
            <a:ext cx="9170100" cy="5231700"/>
          </a:xfrm>
          <a:prstGeom prst="rect">
            <a:avLst/>
          </a:prstGeom>
          <a:solidFill>
            <a:srgbClr val="001E66">
              <a:alpha val="5960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22"/>
          <p:cNvCxnSpPr/>
          <p:nvPr/>
        </p:nvCxnSpPr>
        <p:spPr>
          <a:xfrm>
            <a:off x="4756067" y="1581380"/>
            <a:ext cx="0" cy="213750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9" name="Google Shape;119;p22"/>
          <p:cNvSpPr txBox="1"/>
          <p:nvPr>
            <p:ph type="ctrTitle"/>
          </p:nvPr>
        </p:nvSpPr>
        <p:spPr>
          <a:xfrm>
            <a:off x="545821" y="1581380"/>
            <a:ext cx="3673500" cy="138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545821" y="3048558"/>
            <a:ext cx="3673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500"/>
              <a:buNone/>
              <a:defRPr sz="1500">
                <a:solidFill>
                  <a:srgbClr val="88899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400"/>
              <a:buNone/>
              <a:defRPr sz="1400">
                <a:solidFill>
                  <a:srgbClr val="88899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C"/>
              </a:buClr>
              <a:buSzPts val="1200"/>
              <a:buNone/>
              <a:defRPr sz="1200">
                <a:solidFill>
                  <a:srgbClr val="88899C"/>
                </a:solidFill>
              </a:defRPr>
            </a:lvl9pPr>
          </a:lstStyle>
          <a:p/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2779" y="2307259"/>
            <a:ext cx="3338514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23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25" name="Google Shape;125;p23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6453404" y="4769428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4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32" name="Google Shape;132;p24"/>
          <p:cNvSpPr txBox="1"/>
          <p:nvPr>
            <p:ph type="title"/>
          </p:nvPr>
        </p:nvSpPr>
        <p:spPr>
          <a:xfrm>
            <a:off x="538223" y="1171575"/>
            <a:ext cx="20379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2756173" y="510778"/>
            <a:ext cx="5915400" cy="39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4"/>
          <p:cNvSpPr txBox="1"/>
          <p:nvPr/>
        </p:nvSpPr>
        <p:spPr>
          <a:xfrm>
            <a:off x="6657974" y="4772457"/>
            <a:ext cx="18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68395"/>
            <a:ext cx="9143999" cy="1675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1" y="3762104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5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628650" y="1171575"/>
            <a:ext cx="38367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3" name="Google Shape;143;p25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44" name="Google Shape;144;p25"/>
          <p:cNvSpPr txBox="1"/>
          <p:nvPr>
            <p:ph idx="2" type="body"/>
          </p:nvPr>
        </p:nvSpPr>
        <p:spPr>
          <a:xfrm>
            <a:off x="4673311" y="1171575"/>
            <a:ext cx="38367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85271"/>
            <a:ext cx="9143999" cy="1675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0" y="3778282"/>
            <a:ext cx="9144000" cy="13821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2" name="Google Shape;152;p26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29841" y="1186054"/>
            <a:ext cx="3868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629841" y="1625116"/>
            <a:ext cx="38682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4629150" y="1186054"/>
            <a:ext cx="3887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6" name="Google Shape;156;p26"/>
          <p:cNvSpPr txBox="1"/>
          <p:nvPr>
            <p:ph idx="4" type="body"/>
          </p:nvPr>
        </p:nvSpPr>
        <p:spPr>
          <a:xfrm>
            <a:off x="4629150" y="1625116"/>
            <a:ext cx="3887400" cy="20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57" name="Google Shape;1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48697"/>
            <a:ext cx="9143999" cy="167510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1" y="3762103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4" name="Google Shape;164;p27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165" name="Google Shape;1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48697"/>
            <a:ext cx="9143999" cy="16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1" y="3762104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1" name="Google Shape;171;p28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545523" y="1171575"/>
            <a:ext cx="16335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2" type="body"/>
          </p:nvPr>
        </p:nvSpPr>
        <p:spPr>
          <a:xfrm>
            <a:off x="6918767" y="1171575"/>
            <a:ext cx="16797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74" name="Google Shape;174;p28"/>
          <p:cNvCxnSpPr/>
          <p:nvPr/>
        </p:nvCxnSpPr>
        <p:spPr>
          <a:xfrm>
            <a:off x="-150471" y="1293471"/>
            <a:ext cx="0" cy="2135400"/>
          </a:xfrm>
          <a:prstGeom prst="straightConnector1">
            <a:avLst/>
          </a:prstGeom>
          <a:noFill/>
          <a:ln cap="flat" cmpd="sng" w="8890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75" name="Google Shape;175;p28"/>
          <p:cNvSpPr txBox="1"/>
          <p:nvPr>
            <p:ph idx="3" type="body"/>
          </p:nvPr>
        </p:nvSpPr>
        <p:spPr>
          <a:xfrm>
            <a:off x="1986571" y="1171575"/>
            <a:ext cx="24009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4" type="body"/>
          </p:nvPr>
        </p:nvSpPr>
        <p:spPr>
          <a:xfrm>
            <a:off x="4729772" y="1171575"/>
            <a:ext cx="24009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7" name="Google Shape;177;p28"/>
          <p:cNvSpPr txBox="1"/>
          <p:nvPr/>
        </p:nvSpPr>
        <p:spPr>
          <a:xfrm>
            <a:off x="6468076" y="47687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68395"/>
            <a:ext cx="9143999" cy="167510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1" y="3762104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1397578" y="1238251"/>
            <a:ext cx="258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6" name="Google Shape;186;p29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87" name="Google Shape;187;p29"/>
          <p:cNvSpPr txBox="1"/>
          <p:nvPr>
            <p:ph idx="2" type="body"/>
          </p:nvPr>
        </p:nvSpPr>
        <p:spPr>
          <a:xfrm>
            <a:off x="4131253" y="1095375"/>
            <a:ext cx="43953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3" type="body"/>
          </p:nvPr>
        </p:nvSpPr>
        <p:spPr>
          <a:xfrm>
            <a:off x="1397578" y="2085976"/>
            <a:ext cx="258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29"/>
          <p:cNvSpPr txBox="1"/>
          <p:nvPr>
            <p:ph idx="4" type="body"/>
          </p:nvPr>
        </p:nvSpPr>
        <p:spPr>
          <a:xfrm>
            <a:off x="1397578" y="2933701"/>
            <a:ext cx="258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5" type="body"/>
          </p:nvPr>
        </p:nvSpPr>
        <p:spPr>
          <a:xfrm>
            <a:off x="626053" y="2181227"/>
            <a:ext cx="619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6" type="body"/>
          </p:nvPr>
        </p:nvSpPr>
        <p:spPr>
          <a:xfrm>
            <a:off x="626053" y="1323977"/>
            <a:ext cx="619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7" type="body"/>
          </p:nvPr>
        </p:nvSpPr>
        <p:spPr>
          <a:xfrm>
            <a:off x="626053" y="3019427"/>
            <a:ext cx="619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30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97" name="Google Shape;197;p30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353017" y="1257301"/>
            <a:ext cx="24381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30"/>
          <p:cNvSpPr txBox="1"/>
          <p:nvPr>
            <p:ph idx="2" type="body"/>
          </p:nvPr>
        </p:nvSpPr>
        <p:spPr>
          <a:xfrm>
            <a:off x="664369" y="1257301"/>
            <a:ext cx="24381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30"/>
          <p:cNvSpPr txBox="1"/>
          <p:nvPr>
            <p:ph idx="3" type="body"/>
          </p:nvPr>
        </p:nvSpPr>
        <p:spPr>
          <a:xfrm>
            <a:off x="6026078" y="1257301"/>
            <a:ext cx="24381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1" name="Google Shape;201;p30"/>
          <p:cNvSpPr txBox="1"/>
          <p:nvPr/>
        </p:nvSpPr>
        <p:spPr>
          <a:xfrm>
            <a:off x="6458599" y="4766829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6458599" y="4766829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twoObj">
  <p:cSld name="TWO_OBJECTS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31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07" name="Google Shape;207;p31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628650" y="1257300"/>
            <a:ext cx="3886200" cy="3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31"/>
          <p:cNvSpPr txBox="1"/>
          <p:nvPr>
            <p:ph idx="2" type="body"/>
          </p:nvPr>
        </p:nvSpPr>
        <p:spPr>
          <a:xfrm>
            <a:off x="4629150" y="1257300"/>
            <a:ext cx="3886200" cy="3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32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15" name="Google Shape;215;p32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6686451" y="3614792"/>
            <a:ext cx="18243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7" name="Google Shape;217;p32"/>
          <p:cNvSpPr txBox="1"/>
          <p:nvPr>
            <p:ph idx="2" type="body"/>
          </p:nvPr>
        </p:nvSpPr>
        <p:spPr>
          <a:xfrm>
            <a:off x="628650" y="3614792"/>
            <a:ext cx="18195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8" name="Google Shape;218;p32"/>
          <p:cNvSpPr txBox="1"/>
          <p:nvPr/>
        </p:nvSpPr>
        <p:spPr>
          <a:xfrm>
            <a:off x="6453404" y="4769428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 txBox="1"/>
          <p:nvPr>
            <p:ph idx="3" type="body"/>
          </p:nvPr>
        </p:nvSpPr>
        <p:spPr>
          <a:xfrm>
            <a:off x="628650" y="1823015"/>
            <a:ext cx="18195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32"/>
          <p:cNvSpPr txBox="1"/>
          <p:nvPr>
            <p:ph idx="4" type="body"/>
          </p:nvPr>
        </p:nvSpPr>
        <p:spPr>
          <a:xfrm>
            <a:off x="6686451" y="1823015"/>
            <a:ext cx="18243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32"/>
          <p:cNvSpPr/>
          <p:nvPr/>
        </p:nvSpPr>
        <p:spPr>
          <a:xfrm>
            <a:off x="1229589" y="1102489"/>
            <a:ext cx="624900" cy="624900"/>
          </a:xfrm>
          <a:prstGeom prst="ellipse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1229589" y="2890776"/>
            <a:ext cx="624900" cy="624900"/>
          </a:xfrm>
          <a:prstGeom prst="ellipse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7202141" y="1104086"/>
            <a:ext cx="624900" cy="624900"/>
          </a:xfrm>
          <a:prstGeom prst="ellipse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7202141" y="2892374"/>
            <a:ext cx="624900" cy="624900"/>
          </a:xfrm>
          <a:prstGeom prst="ellipse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 txBox="1"/>
          <p:nvPr>
            <p:ph idx="5" type="body"/>
          </p:nvPr>
        </p:nvSpPr>
        <p:spPr>
          <a:xfrm>
            <a:off x="1245143" y="1154578"/>
            <a:ext cx="6096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6" type="body"/>
          </p:nvPr>
        </p:nvSpPr>
        <p:spPr>
          <a:xfrm>
            <a:off x="1245143" y="2960228"/>
            <a:ext cx="6096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7" type="body"/>
          </p:nvPr>
        </p:nvSpPr>
        <p:spPr>
          <a:xfrm>
            <a:off x="7217680" y="1154578"/>
            <a:ext cx="6096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8" type="body"/>
          </p:nvPr>
        </p:nvSpPr>
        <p:spPr>
          <a:xfrm>
            <a:off x="7217680" y="2960228"/>
            <a:ext cx="6096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idx="9" type="body"/>
          </p:nvPr>
        </p:nvSpPr>
        <p:spPr>
          <a:xfrm>
            <a:off x="2623737" y="1060747"/>
            <a:ext cx="3886200" cy="3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0" name="Google Shape;23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hree Content">
  <p:cSld name="3_Three Conte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48697"/>
            <a:ext cx="9143999" cy="16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3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10390" y="3762104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36" name="Google Shape;236;p33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3296516" y="1171575"/>
            <a:ext cx="25716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8" name="Google Shape;238;p33"/>
          <p:cNvSpPr txBox="1"/>
          <p:nvPr>
            <p:ph idx="2" type="body"/>
          </p:nvPr>
        </p:nvSpPr>
        <p:spPr>
          <a:xfrm>
            <a:off x="545523" y="1171575"/>
            <a:ext cx="25716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9" name="Google Shape;239;p33"/>
          <p:cNvSpPr txBox="1"/>
          <p:nvPr>
            <p:ph idx="3" type="body"/>
          </p:nvPr>
        </p:nvSpPr>
        <p:spPr>
          <a:xfrm>
            <a:off x="6047510" y="1171575"/>
            <a:ext cx="25716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/>
        </p:nvSpPr>
        <p:spPr>
          <a:xfrm>
            <a:off x="5715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34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45" name="Google Shape;245;p34"/>
          <p:cNvSpPr txBox="1"/>
          <p:nvPr>
            <p:ph type="title"/>
          </p:nvPr>
        </p:nvSpPr>
        <p:spPr>
          <a:xfrm>
            <a:off x="629841" y="512381"/>
            <a:ext cx="78867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629841" y="1260872"/>
            <a:ext cx="38682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7" name="Google Shape;247;p34"/>
          <p:cNvSpPr txBox="1"/>
          <p:nvPr>
            <p:ph idx="2" type="body"/>
          </p:nvPr>
        </p:nvSpPr>
        <p:spPr>
          <a:xfrm>
            <a:off x="629841" y="1878806"/>
            <a:ext cx="3868200" cy="2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34"/>
          <p:cNvSpPr txBox="1"/>
          <p:nvPr>
            <p:ph idx="3" type="body"/>
          </p:nvPr>
        </p:nvSpPr>
        <p:spPr>
          <a:xfrm>
            <a:off x="4629150" y="1260872"/>
            <a:ext cx="38874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9" name="Google Shape;249;p34"/>
          <p:cNvSpPr txBox="1"/>
          <p:nvPr>
            <p:ph idx="4" type="body"/>
          </p:nvPr>
        </p:nvSpPr>
        <p:spPr>
          <a:xfrm>
            <a:off x="4629150" y="1878806"/>
            <a:ext cx="3887400" cy="27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4"/>
          <p:cNvSpPr txBox="1"/>
          <p:nvPr/>
        </p:nvSpPr>
        <p:spPr>
          <a:xfrm>
            <a:off x="6453404" y="4769428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">
  <p:cSld name="1_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/>
          <p:nvPr/>
        </p:nvSpPr>
        <p:spPr>
          <a:xfrm>
            <a:off x="34288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35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56" name="Google Shape;256;p35"/>
          <p:cNvSpPr txBox="1"/>
          <p:nvPr/>
        </p:nvSpPr>
        <p:spPr>
          <a:xfrm>
            <a:off x="628650" y="1478151"/>
            <a:ext cx="2438100" cy="3020100"/>
          </a:xfrm>
          <a:prstGeom prst="rect">
            <a:avLst/>
          </a:prstGeom>
          <a:solidFill>
            <a:srgbClr val="00B5E2">
              <a:alpha val="50196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3313732" y="1478151"/>
            <a:ext cx="2438100" cy="3020100"/>
          </a:xfrm>
          <a:prstGeom prst="rect">
            <a:avLst/>
          </a:prstGeom>
          <a:solidFill>
            <a:srgbClr val="FEC3D1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6022061" y="1478151"/>
            <a:ext cx="2438100" cy="3020100"/>
          </a:xfrm>
          <a:prstGeom prst="rect">
            <a:avLst/>
          </a:prstGeom>
          <a:solidFill>
            <a:srgbClr val="001E61">
              <a:alpha val="29804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5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3544654" y="2641492"/>
            <a:ext cx="1976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5"/>
          <p:cNvSpPr txBox="1"/>
          <p:nvPr>
            <p:ph idx="2" type="body"/>
          </p:nvPr>
        </p:nvSpPr>
        <p:spPr>
          <a:xfrm>
            <a:off x="906067" y="2641492"/>
            <a:ext cx="189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5"/>
          <p:cNvSpPr txBox="1"/>
          <p:nvPr>
            <p:ph idx="3" type="body"/>
          </p:nvPr>
        </p:nvSpPr>
        <p:spPr>
          <a:xfrm>
            <a:off x="6252983" y="2641492"/>
            <a:ext cx="1976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3" name="Google Shape;263;p35"/>
          <p:cNvSpPr txBox="1"/>
          <p:nvPr/>
        </p:nvSpPr>
        <p:spPr>
          <a:xfrm>
            <a:off x="6458599" y="4766829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6458599" y="4766829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1225763" y="1175927"/>
            <a:ext cx="1302000" cy="1302000"/>
          </a:xfrm>
          <a:prstGeom prst="ellipse">
            <a:avLst/>
          </a:prstGeom>
          <a:solidFill>
            <a:srgbClr val="887C85"/>
          </a:solidFill>
          <a:ln cap="flat" cmpd="sng" w="88900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3864350" y="1175927"/>
            <a:ext cx="1302000" cy="1302000"/>
          </a:xfrm>
          <a:prstGeom prst="ellipse">
            <a:avLst/>
          </a:prstGeom>
          <a:solidFill>
            <a:srgbClr val="887C85"/>
          </a:solidFill>
          <a:ln cap="flat" cmpd="sng" w="88900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6572678" y="1175927"/>
            <a:ext cx="1302000" cy="1302000"/>
          </a:xfrm>
          <a:prstGeom prst="ellipse">
            <a:avLst/>
          </a:prstGeom>
          <a:solidFill>
            <a:srgbClr val="887C85"/>
          </a:solidFill>
          <a:ln cap="flat" cmpd="sng" w="88900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">
  <p:cSld name="2_Conten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/>
          <p:nvPr/>
        </p:nvSpPr>
        <p:spPr>
          <a:xfrm>
            <a:off x="4624603" y="1314640"/>
            <a:ext cx="3886200" cy="153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4624603" y="2949032"/>
            <a:ext cx="3886200" cy="1539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6"/>
          <p:cNvSpPr/>
          <p:nvPr/>
        </p:nvSpPr>
        <p:spPr>
          <a:xfrm>
            <a:off x="0" y="4683035"/>
            <a:ext cx="9196500" cy="460500"/>
          </a:xfrm>
          <a:prstGeom prst="rect">
            <a:avLst/>
          </a:prstGeom>
          <a:solidFill>
            <a:schemeClr val="dk1">
              <a:alpha val="96078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36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74" name="Google Shape;274;p36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4800599" y="3117331"/>
            <a:ext cx="35331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36"/>
          <p:cNvSpPr txBox="1"/>
          <p:nvPr>
            <p:ph idx="2" type="body"/>
          </p:nvPr>
        </p:nvSpPr>
        <p:spPr>
          <a:xfrm>
            <a:off x="4800599" y="1475772"/>
            <a:ext cx="35331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7" name="Google Shape;277;p36"/>
          <p:cNvSpPr txBox="1"/>
          <p:nvPr/>
        </p:nvSpPr>
        <p:spPr>
          <a:xfrm>
            <a:off x="6453404" y="4769428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6"/>
          <p:cNvSpPr txBox="1"/>
          <p:nvPr>
            <p:ph idx="3" type="body"/>
          </p:nvPr>
        </p:nvSpPr>
        <p:spPr>
          <a:xfrm>
            <a:off x="618343" y="1311101"/>
            <a:ext cx="37326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9" name="Google Shape;27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">
  <p:cSld name="3_Conten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/>
          <p:nvPr/>
        </p:nvSpPr>
        <p:spPr>
          <a:xfrm>
            <a:off x="4624603" y="1314640"/>
            <a:ext cx="3886200" cy="15390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4624603" y="2949032"/>
            <a:ext cx="3886200" cy="153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/>
          <p:nvPr/>
        </p:nvSpPr>
        <p:spPr>
          <a:xfrm>
            <a:off x="-81997" y="4683035"/>
            <a:ext cx="9278700" cy="460500"/>
          </a:xfrm>
          <a:prstGeom prst="rect">
            <a:avLst/>
          </a:prstGeom>
          <a:solidFill>
            <a:schemeClr val="dk1">
              <a:alpha val="96078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37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85" name="Google Shape;285;p37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4800599" y="3117331"/>
            <a:ext cx="35331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7" name="Google Shape;287;p37"/>
          <p:cNvSpPr txBox="1"/>
          <p:nvPr>
            <p:ph idx="2" type="body"/>
          </p:nvPr>
        </p:nvSpPr>
        <p:spPr>
          <a:xfrm>
            <a:off x="4800599" y="1475772"/>
            <a:ext cx="35331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7"/>
          <p:cNvSpPr txBox="1"/>
          <p:nvPr/>
        </p:nvSpPr>
        <p:spPr>
          <a:xfrm>
            <a:off x="6453404" y="4769428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7"/>
          <p:cNvSpPr/>
          <p:nvPr/>
        </p:nvSpPr>
        <p:spPr>
          <a:xfrm>
            <a:off x="628650" y="1311101"/>
            <a:ext cx="3888600" cy="3177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7"/>
          <p:cNvSpPr txBox="1"/>
          <p:nvPr>
            <p:ph idx="3" type="body"/>
          </p:nvPr>
        </p:nvSpPr>
        <p:spPr>
          <a:xfrm>
            <a:off x="819977" y="1475772"/>
            <a:ext cx="35331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91" name="Google Shape;29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">
  <p:cSld name="4_Conten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448697"/>
            <a:ext cx="9143999" cy="16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/>
          <p:nvPr/>
        </p:nvSpPr>
        <p:spPr>
          <a:xfrm>
            <a:off x="0" y="3428999"/>
            <a:ext cx="9144000" cy="33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8"/>
          <p:cNvSpPr/>
          <p:nvPr/>
        </p:nvSpPr>
        <p:spPr>
          <a:xfrm>
            <a:off x="5143034" y="1336874"/>
            <a:ext cx="3554700" cy="22731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0" y="3762104"/>
            <a:ext cx="9144000" cy="1381500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2833890" y="1336874"/>
            <a:ext cx="3554700" cy="22731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524741" y="1336874"/>
            <a:ext cx="3554700" cy="22731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300" name="Google Shape;300;p38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301" name="Google Shape;301;p38"/>
          <p:cNvSpPr txBox="1"/>
          <p:nvPr>
            <p:ph idx="1" type="body"/>
          </p:nvPr>
        </p:nvSpPr>
        <p:spPr>
          <a:xfrm>
            <a:off x="4158205" y="2254468"/>
            <a:ext cx="1562700" cy="1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2" name="Google Shape;302;p38"/>
          <p:cNvSpPr txBox="1"/>
          <p:nvPr>
            <p:ph idx="2" type="body"/>
          </p:nvPr>
        </p:nvSpPr>
        <p:spPr>
          <a:xfrm>
            <a:off x="1823013" y="2257061"/>
            <a:ext cx="15885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3" type="body"/>
          </p:nvPr>
        </p:nvSpPr>
        <p:spPr>
          <a:xfrm>
            <a:off x="6467354" y="2254468"/>
            <a:ext cx="1527900" cy="1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8"/>
          <p:cNvSpPr/>
          <p:nvPr/>
        </p:nvSpPr>
        <p:spPr>
          <a:xfrm>
            <a:off x="1453918" y="968278"/>
            <a:ext cx="1036800" cy="103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8"/>
          <p:cNvSpPr txBox="1"/>
          <p:nvPr>
            <p:ph idx="4" type="body"/>
          </p:nvPr>
        </p:nvSpPr>
        <p:spPr>
          <a:xfrm>
            <a:off x="1484351" y="1112510"/>
            <a:ext cx="975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07" name="Google Shape;30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53" y="4258242"/>
            <a:ext cx="2456198" cy="50098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8"/>
          <p:cNvSpPr/>
          <p:nvPr/>
        </p:nvSpPr>
        <p:spPr>
          <a:xfrm>
            <a:off x="3779674" y="968278"/>
            <a:ext cx="1036800" cy="103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8"/>
          <p:cNvSpPr txBox="1"/>
          <p:nvPr>
            <p:ph idx="5" type="body"/>
          </p:nvPr>
        </p:nvSpPr>
        <p:spPr>
          <a:xfrm>
            <a:off x="3810107" y="1112510"/>
            <a:ext cx="975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0" name="Google Shape;310;p38"/>
          <p:cNvSpPr/>
          <p:nvPr/>
        </p:nvSpPr>
        <p:spPr>
          <a:xfrm>
            <a:off x="6097975" y="968278"/>
            <a:ext cx="1036800" cy="103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8"/>
          <p:cNvSpPr txBox="1"/>
          <p:nvPr>
            <p:ph idx="6" type="body"/>
          </p:nvPr>
        </p:nvSpPr>
        <p:spPr>
          <a:xfrm>
            <a:off x="6128408" y="1112510"/>
            <a:ext cx="975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ontent">
  <p:cSld name="5_Conten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/>
          <p:nvPr/>
        </p:nvSpPr>
        <p:spPr>
          <a:xfrm>
            <a:off x="544010" y="1311101"/>
            <a:ext cx="1973400" cy="31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2581164" y="1311101"/>
            <a:ext cx="1973400" cy="31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4618318" y="1311101"/>
            <a:ext cx="1973400" cy="31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6655472" y="1311101"/>
            <a:ext cx="1980300" cy="31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0" y="4683035"/>
            <a:ext cx="9144000" cy="46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39"/>
          <p:cNvCxnSpPr/>
          <p:nvPr/>
        </p:nvCxnSpPr>
        <p:spPr>
          <a:xfrm>
            <a:off x="3793127" y="301243"/>
            <a:ext cx="155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0" name="Google Shape;320;p39"/>
          <p:cNvSpPr txBox="1"/>
          <p:nvPr>
            <p:ph idx="1" type="body"/>
          </p:nvPr>
        </p:nvSpPr>
        <p:spPr>
          <a:xfrm>
            <a:off x="2755785" y="1512211"/>
            <a:ext cx="15975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1" name="Google Shape;321;p39"/>
          <p:cNvSpPr txBox="1"/>
          <p:nvPr>
            <p:ph idx="12" type="sldNum"/>
          </p:nvPr>
        </p:nvSpPr>
        <p:spPr>
          <a:xfrm>
            <a:off x="6453404" y="4761635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39"/>
          <p:cNvSpPr txBox="1"/>
          <p:nvPr>
            <p:ph idx="2" type="body"/>
          </p:nvPr>
        </p:nvSpPr>
        <p:spPr>
          <a:xfrm>
            <a:off x="715747" y="1509775"/>
            <a:ext cx="1598400" cy="2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39"/>
          <p:cNvSpPr txBox="1"/>
          <p:nvPr>
            <p:ph idx="3" type="body"/>
          </p:nvPr>
        </p:nvSpPr>
        <p:spPr>
          <a:xfrm>
            <a:off x="4825526" y="1509775"/>
            <a:ext cx="1566600" cy="2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39"/>
          <p:cNvSpPr txBox="1"/>
          <p:nvPr/>
        </p:nvSpPr>
        <p:spPr>
          <a:xfrm>
            <a:off x="6458599" y="4766829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6458599" y="4766829"/>
            <a:ext cx="2057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9"/>
          <p:cNvSpPr txBox="1"/>
          <p:nvPr>
            <p:ph idx="4" type="body"/>
          </p:nvPr>
        </p:nvSpPr>
        <p:spPr>
          <a:xfrm>
            <a:off x="6865565" y="1509775"/>
            <a:ext cx="1566600" cy="2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39"/>
          <p:cNvSpPr/>
          <p:nvPr/>
        </p:nvSpPr>
        <p:spPr>
          <a:xfrm>
            <a:off x="2299595" y="2638306"/>
            <a:ext cx="494700" cy="494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9"/>
          <p:cNvSpPr/>
          <p:nvPr/>
        </p:nvSpPr>
        <p:spPr>
          <a:xfrm>
            <a:off x="4339633" y="2638306"/>
            <a:ext cx="494700" cy="494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"/>
          <p:cNvSpPr/>
          <p:nvPr/>
        </p:nvSpPr>
        <p:spPr>
          <a:xfrm>
            <a:off x="6379671" y="2638306"/>
            <a:ext cx="494700" cy="494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9"/>
          <p:cNvSpPr txBox="1"/>
          <p:nvPr>
            <p:ph idx="5" type="body"/>
          </p:nvPr>
        </p:nvSpPr>
        <p:spPr>
          <a:xfrm>
            <a:off x="2356459" y="2699795"/>
            <a:ext cx="3855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1" name="Google Shape;331;p39"/>
          <p:cNvSpPr txBox="1"/>
          <p:nvPr>
            <p:ph idx="6" type="body"/>
          </p:nvPr>
        </p:nvSpPr>
        <p:spPr>
          <a:xfrm>
            <a:off x="4387816" y="2699795"/>
            <a:ext cx="3855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2" name="Google Shape;332;p39"/>
          <p:cNvSpPr txBox="1"/>
          <p:nvPr>
            <p:ph idx="7" type="body"/>
          </p:nvPr>
        </p:nvSpPr>
        <p:spPr>
          <a:xfrm>
            <a:off x="6430835" y="2699795"/>
            <a:ext cx="3855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33" name="Google Shape;33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1827" y="173470"/>
            <a:ext cx="1373402" cy="280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">
  <p:cSld name="6_Content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872"/>
            <a:ext cx="9143998" cy="515734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/>
          <p:nvPr/>
        </p:nvSpPr>
        <p:spPr>
          <a:xfrm rot="-5400000">
            <a:off x="226050" y="-226064"/>
            <a:ext cx="5159100" cy="5611200"/>
          </a:xfrm>
          <a:prstGeom prst="rect">
            <a:avLst/>
          </a:prstGeom>
          <a:solidFill>
            <a:srgbClr val="7F7F7F">
              <a:alpha val="7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3007723" y="841663"/>
            <a:ext cx="5476500" cy="3491400"/>
          </a:xfrm>
          <a:prstGeom prst="rect">
            <a:avLst/>
          </a:prstGeom>
          <a:solidFill>
            <a:srgbClr val="00B5E2">
              <a:alpha val="7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40"/>
          <p:cNvSpPr txBox="1"/>
          <p:nvPr>
            <p:ph type="title"/>
          </p:nvPr>
        </p:nvSpPr>
        <p:spPr>
          <a:xfrm>
            <a:off x="628650" y="1386720"/>
            <a:ext cx="22416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0" name="Google Shape;340;p40"/>
          <p:cNvSpPr txBox="1"/>
          <p:nvPr>
            <p:ph idx="1" type="body"/>
          </p:nvPr>
        </p:nvSpPr>
        <p:spPr>
          <a:xfrm>
            <a:off x="3273136" y="1176771"/>
            <a:ext cx="4948800" cy="27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1" name="Google Shape;341;p40"/>
          <p:cNvSpPr txBox="1"/>
          <p:nvPr>
            <p:ph idx="2" type="body"/>
          </p:nvPr>
        </p:nvSpPr>
        <p:spPr>
          <a:xfrm>
            <a:off x="623454" y="2424884"/>
            <a:ext cx="22542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42" name="Google Shape;342;p40"/>
          <p:cNvCxnSpPr/>
          <p:nvPr/>
        </p:nvCxnSpPr>
        <p:spPr>
          <a:xfrm>
            <a:off x="628650" y="2355944"/>
            <a:ext cx="22491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343" name="Google Shape;34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02" y="247759"/>
            <a:ext cx="1882595" cy="38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">
  <p:cSld name="7_Conte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872"/>
            <a:ext cx="9143998" cy="515734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1"/>
          <p:cNvSpPr/>
          <p:nvPr/>
        </p:nvSpPr>
        <p:spPr>
          <a:xfrm rot="-5400000">
            <a:off x="233850" y="-219136"/>
            <a:ext cx="5143500" cy="5611200"/>
          </a:xfrm>
          <a:prstGeom prst="rect">
            <a:avLst/>
          </a:prstGeom>
          <a:solidFill>
            <a:srgbClr val="7F7F7F">
              <a:alpha val="7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3007723" y="841663"/>
            <a:ext cx="5476500" cy="3491400"/>
          </a:xfrm>
          <a:prstGeom prst="rect">
            <a:avLst/>
          </a:prstGeom>
          <a:solidFill>
            <a:srgbClr val="00B5E2">
              <a:alpha val="7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1"/>
          <p:cNvSpPr txBox="1"/>
          <p:nvPr>
            <p:ph type="title"/>
          </p:nvPr>
        </p:nvSpPr>
        <p:spPr>
          <a:xfrm>
            <a:off x="628650" y="1386720"/>
            <a:ext cx="22416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0" name="Google Shape;350;p41"/>
          <p:cNvSpPr txBox="1"/>
          <p:nvPr>
            <p:ph idx="1" type="body"/>
          </p:nvPr>
        </p:nvSpPr>
        <p:spPr>
          <a:xfrm>
            <a:off x="3260221" y="1161788"/>
            <a:ext cx="2415900" cy="27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1" name="Google Shape;351;p41"/>
          <p:cNvSpPr txBox="1"/>
          <p:nvPr>
            <p:ph idx="2" type="body"/>
          </p:nvPr>
        </p:nvSpPr>
        <p:spPr>
          <a:xfrm>
            <a:off x="623454" y="2424884"/>
            <a:ext cx="22542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1"/>
          <p:cNvSpPr txBox="1"/>
          <p:nvPr>
            <p:ph idx="3" type="body"/>
          </p:nvPr>
        </p:nvSpPr>
        <p:spPr>
          <a:xfrm>
            <a:off x="5829300" y="1161788"/>
            <a:ext cx="2415900" cy="27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53" name="Google Shape;353;p41"/>
          <p:cNvCxnSpPr/>
          <p:nvPr/>
        </p:nvCxnSpPr>
        <p:spPr>
          <a:xfrm>
            <a:off x="628650" y="2355944"/>
            <a:ext cx="22491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354" name="Google Shape;3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02" y="247759"/>
            <a:ext cx="1882595" cy="38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2"/>
          <p:cNvPicPr preferRelativeResize="0"/>
          <p:nvPr/>
        </p:nvPicPr>
        <p:blipFill rotWithShape="1">
          <a:blip r:embed="rId2">
            <a:alphaModFix/>
          </a:blip>
          <a:srcRect b="17529" l="24931" r="2300" t="6524"/>
          <a:stretch/>
        </p:blipFill>
        <p:spPr>
          <a:xfrm>
            <a:off x="0" y="-4"/>
            <a:ext cx="9143999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2"/>
          <p:cNvSpPr/>
          <p:nvPr/>
        </p:nvSpPr>
        <p:spPr>
          <a:xfrm rot="-5400000">
            <a:off x="4286251" y="285753"/>
            <a:ext cx="5143500" cy="4572000"/>
          </a:xfrm>
          <a:prstGeom prst="rect">
            <a:avLst/>
          </a:prstGeom>
          <a:solidFill>
            <a:srgbClr val="7F7F7F">
              <a:alpha val="7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2"/>
          <p:cNvSpPr/>
          <p:nvPr/>
        </p:nvSpPr>
        <p:spPr>
          <a:xfrm>
            <a:off x="1043688" y="908687"/>
            <a:ext cx="4644000" cy="3582600"/>
          </a:xfrm>
          <a:prstGeom prst="rect">
            <a:avLst/>
          </a:prstGeom>
          <a:solidFill>
            <a:srgbClr val="00B5E2">
              <a:alpha val="7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2"/>
          <p:cNvSpPr txBox="1"/>
          <p:nvPr>
            <p:ph type="title"/>
          </p:nvPr>
        </p:nvSpPr>
        <p:spPr>
          <a:xfrm>
            <a:off x="5851273" y="1377808"/>
            <a:ext cx="2249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0" name="Google Shape;360;p42"/>
          <p:cNvSpPr/>
          <p:nvPr>
            <p:ph idx="2" type="pic"/>
          </p:nvPr>
        </p:nvSpPr>
        <p:spPr>
          <a:xfrm>
            <a:off x="1328738" y="1114425"/>
            <a:ext cx="4071900" cy="31203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2"/>
          <p:cNvSpPr txBox="1"/>
          <p:nvPr>
            <p:ph idx="1" type="body"/>
          </p:nvPr>
        </p:nvSpPr>
        <p:spPr>
          <a:xfrm>
            <a:off x="5851273" y="2423683"/>
            <a:ext cx="2249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62" name="Google Shape;362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42"/>
          <p:cNvCxnSpPr/>
          <p:nvPr/>
        </p:nvCxnSpPr>
        <p:spPr>
          <a:xfrm>
            <a:off x="5851273" y="2355944"/>
            <a:ext cx="22491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364" name="Google Shape;36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02" y="247759"/>
            <a:ext cx="1882595" cy="38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252331"/>
            <a:ext cx="7886700" cy="3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738">
          <p15:clr>
            <a:srgbClr val="F26B43"/>
          </p15:clr>
        </p15:guide>
        <p15:guide id="2" pos="53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assar@uic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arn.microsoft.com/en-us/azure/security/develop/threat-modeling-tool-threat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arn.microsoft.com/en-us/azure/security/develop/threat-modeling-tool-threat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/>
          <p:nvPr>
            <p:ph type="title"/>
          </p:nvPr>
        </p:nvSpPr>
        <p:spPr>
          <a:xfrm>
            <a:off x="623875" y="554575"/>
            <a:ext cx="54663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SzPts val="3000"/>
              <a:buNone/>
            </a:pPr>
            <a:r>
              <a:rPr lang="en" sz="2900"/>
              <a:t>Code Review Guide For ACER</a:t>
            </a:r>
            <a:endParaRPr sz="2900"/>
          </a:p>
        </p:txBody>
      </p:sp>
      <p:sp>
        <p:nvSpPr>
          <p:cNvPr id="370" name="Google Shape;370;p43"/>
          <p:cNvSpPr txBox="1"/>
          <p:nvPr>
            <p:ph idx="1" type="body"/>
          </p:nvPr>
        </p:nvSpPr>
        <p:spPr>
          <a:xfrm>
            <a:off x="623888" y="3080905"/>
            <a:ext cx="52560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</a:pPr>
            <a:r>
              <a:rPr lang="en" sz="1400"/>
              <a:t>Anas Nassar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</a:pPr>
            <a:r>
              <a:rPr lang="en" sz="1400"/>
              <a:t>Research Software Engineer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nassar@uic.edu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">
                <a:solidFill>
                  <a:srgbClr val="D50032"/>
                </a:solidFill>
              </a:rPr>
              <a:t>Why this matters now</a:t>
            </a:r>
            <a:endParaRPr>
              <a:solidFill>
                <a:srgbClr val="D50032"/>
              </a:solidFill>
            </a:endParaRPr>
          </a:p>
        </p:txBody>
      </p:sp>
      <p:sp>
        <p:nvSpPr>
          <p:cNvPr id="376" name="Google Shape;376;p44"/>
          <p:cNvSpPr txBox="1"/>
          <p:nvPr/>
        </p:nvSpPr>
        <p:spPr>
          <a:xfrm>
            <a:off x="635000" y="221615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The hard part of software shifted from writing code to verifying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382" name="Google Shape;382;p45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5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389" name="Google Shape;389;p46"/>
          <p:cNvSpPr/>
          <p:nvPr/>
        </p:nvSpPr>
        <p:spPr>
          <a:xfrm>
            <a:off x="635000" y="1778000"/>
            <a:ext cx="2413000" cy="406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L0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Plan and scope</a:t>
            </a:r>
            <a:endParaRPr/>
          </a:p>
        </p:txBody>
      </p:sp>
      <p:sp>
        <p:nvSpPr>
          <p:cNvPr id="390" name="Google Shape;390;p46"/>
          <p:cNvSpPr/>
          <p:nvPr/>
        </p:nvSpPr>
        <p:spPr>
          <a:xfrm>
            <a:off x="3048000" y="17780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Keep changes small; review the plan before generating code</a:t>
            </a:r>
            <a:endParaRPr/>
          </a:p>
        </p:txBody>
      </p:sp>
      <p:sp>
        <p:nvSpPr>
          <p:cNvPr id="391" name="Google Shape;391;p46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398" name="Google Shape;398;p47"/>
          <p:cNvSpPr/>
          <p:nvPr/>
        </p:nvSpPr>
        <p:spPr>
          <a:xfrm>
            <a:off x="635000" y="1778000"/>
            <a:ext cx="2413000" cy="406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L0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Plan and scope</a:t>
            </a:r>
            <a:endParaRPr/>
          </a:p>
        </p:txBody>
      </p:sp>
      <p:sp>
        <p:nvSpPr>
          <p:cNvPr id="399" name="Google Shape;399;p47"/>
          <p:cNvSpPr/>
          <p:nvPr/>
        </p:nvSpPr>
        <p:spPr>
          <a:xfrm>
            <a:off x="3048000" y="17780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Keep changes small; review the plan before generating code</a:t>
            </a:r>
            <a:endParaRPr/>
          </a:p>
        </p:txBody>
      </p:sp>
      <p:sp>
        <p:nvSpPr>
          <p:cNvPr id="400" name="Google Shape;400;p47"/>
          <p:cNvSpPr/>
          <p:nvPr/>
        </p:nvSpPr>
        <p:spPr>
          <a:xfrm>
            <a:off x="635000" y="22479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 the obvious</a:t>
            </a:r>
            <a:endParaRPr/>
          </a:p>
        </p:txBody>
      </p:sp>
      <p:sp>
        <p:nvSpPr>
          <p:cNvPr id="401" name="Google Shape;401;p47"/>
          <p:cNvSpPr/>
          <p:nvPr/>
        </p:nvSpPr>
        <p:spPr>
          <a:xfrm>
            <a:off x="3048000" y="22479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Hooks run lint, format, type check, secret scan per commit</a:t>
            </a:r>
            <a:endParaRPr/>
          </a:p>
        </p:txBody>
      </p:sp>
      <p:sp>
        <p:nvSpPr>
          <p:cNvPr id="402" name="Google Shape;402;p47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7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409" name="Google Shape;409;p48"/>
          <p:cNvSpPr/>
          <p:nvPr/>
        </p:nvSpPr>
        <p:spPr>
          <a:xfrm>
            <a:off x="635000" y="1778000"/>
            <a:ext cx="2413000" cy="406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L0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Plan and scope</a:t>
            </a:r>
            <a:endParaRPr/>
          </a:p>
        </p:txBody>
      </p:sp>
      <p:sp>
        <p:nvSpPr>
          <p:cNvPr id="410" name="Google Shape;410;p48"/>
          <p:cNvSpPr/>
          <p:nvPr/>
        </p:nvSpPr>
        <p:spPr>
          <a:xfrm>
            <a:off x="3048000" y="17780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Keep changes small; review the plan before generating code</a:t>
            </a:r>
            <a:endParaRPr/>
          </a:p>
        </p:txBody>
      </p:sp>
      <p:sp>
        <p:nvSpPr>
          <p:cNvPr id="411" name="Google Shape;411;p48"/>
          <p:cNvSpPr/>
          <p:nvPr/>
        </p:nvSpPr>
        <p:spPr>
          <a:xfrm>
            <a:off x="635000" y="22479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 the obvious</a:t>
            </a:r>
            <a:endParaRPr/>
          </a:p>
        </p:txBody>
      </p:sp>
      <p:sp>
        <p:nvSpPr>
          <p:cNvPr id="412" name="Google Shape;412;p48"/>
          <p:cNvSpPr/>
          <p:nvPr/>
        </p:nvSpPr>
        <p:spPr>
          <a:xfrm>
            <a:off x="3048000" y="22479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Hooks run lint, format, type check, secret scan per commit</a:t>
            </a:r>
            <a:endParaRPr/>
          </a:p>
        </p:txBody>
      </p:sp>
      <p:sp>
        <p:nvSpPr>
          <p:cNvPr id="413" name="Google Shape;413;p48"/>
          <p:cNvSpPr/>
          <p:nvPr/>
        </p:nvSpPr>
        <p:spPr>
          <a:xfrm>
            <a:off x="635000" y="27178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 self-review</a:t>
            </a:r>
            <a:endParaRPr/>
          </a:p>
        </p:txBody>
      </p:sp>
      <p:sp>
        <p:nvSpPr>
          <p:cNvPr id="414" name="Google Shape;414;p48"/>
          <p:cNvSpPr/>
          <p:nvPr/>
        </p:nvSpPr>
        <p:spPr>
          <a:xfrm>
            <a:off x="3048000" y="27178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Run it, read your diff as a stranger, disclose AI use</a:t>
            </a:r>
            <a:endParaRPr/>
          </a:p>
        </p:txBody>
      </p:sp>
      <p:sp>
        <p:nvSpPr>
          <p:cNvPr id="415" name="Google Shape;415;p48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422" name="Google Shape;422;p49"/>
          <p:cNvSpPr/>
          <p:nvPr/>
        </p:nvSpPr>
        <p:spPr>
          <a:xfrm>
            <a:off x="635000" y="1778000"/>
            <a:ext cx="2413000" cy="406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L0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Plan and scope</a:t>
            </a:r>
            <a:endParaRPr/>
          </a:p>
        </p:txBody>
      </p:sp>
      <p:sp>
        <p:nvSpPr>
          <p:cNvPr id="423" name="Google Shape;423;p49"/>
          <p:cNvSpPr/>
          <p:nvPr/>
        </p:nvSpPr>
        <p:spPr>
          <a:xfrm>
            <a:off x="3048000" y="17780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Keep changes small; review the plan before generating code</a:t>
            </a:r>
            <a:endParaRPr/>
          </a:p>
        </p:txBody>
      </p:sp>
      <p:sp>
        <p:nvSpPr>
          <p:cNvPr id="424" name="Google Shape;424;p49"/>
          <p:cNvSpPr/>
          <p:nvPr/>
        </p:nvSpPr>
        <p:spPr>
          <a:xfrm>
            <a:off x="635000" y="22479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 the obvious</a:t>
            </a:r>
            <a:endParaRPr/>
          </a:p>
        </p:txBody>
      </p:sp>
      <p:sp>
        <p:nvSpPr>
          <p:cNvPr id="425" name="Google Shape;425;p49"/>
          <p:cNvSpPr/>
          <p:nvPr/>
        </p:nvSpPr>
        <p:spPr>
          <a:xfrm>
            <a:off x="3048000" y="22479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Hooks run lint, format, type check, secret scan per commit</a:t>
            </a:r>
            <a:endParaRPr/>
          </a:p>
        </p:txBody>
      </p:sp>
      <p:sp>
        <p:nvSpPr>
          <p:cNvPr id="426" name="Google Shape;426;p49"/>
          <p:cNvSpPr/>
          <p:nvPr/>
        </p:nvSpPr>
        <p:spPr>
          <a:xfrm>
            <a:off x="635000" y="27178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 self-review</a:t>
            </a:r>
            <a:endParaRPr/>
          </a:p>
        </p:txBody>
      </p:sp>
      <p:sp>
        <p:nvSpPr>
          <p:cNvPr id="427" name="Google Shape;427;p49"/>
          <p:cNvSpPr/>
          <p:nvPr/>
        </p:nvSpPr>
        <p:spPr>
          <a:xfrm>
            <a:off x="3048000" y="27178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Run it, read your diff as a stranger, disclose AI use</a:t>
            </a:r>
            <a:endParaRPr/>
          </a:p>
        </p:txBody>
      </p:sp>
      <p:sp>
        <p:nvSpPr>
          <p:cNvPr id="428" name="Google Shape;428;p49"/>
          <p:cNvSpPr/>
          <p:nvPr/>
        </p:nvSpPr>
        <p:spPr>
          <a:xfrm>
            <a:off x="635000" y="31877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safety net</a:t>
            </a:r>
            <a:endParaRPr/>
          </a:p>
        </p:txBody>
      </p:sp>
      <p:sp>
        <p:nvSpPr>
          <p:cNvPr id="429" name="Google Shape;429;p49"/>
          <p:cNvSpPr/>
          <p:nvPr/>
        </p:nvSpPr>
        <p:spPr>
          <a:xfrm>
            <a:off x="3048000" y="31877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Full test suite and security scans on every pull request</a:t>
            </a:r>
            <a:endParaRPr/>
          </a:p>
        </p:txBody>
      </p:sp>
      <p:sp>
        <p:nvSpPr>
          <p:cNvPr id="430" name="Google Shape;430;p49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9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0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437" name="Google Shape;437;p50"/>
          <p:cNvSpPr/>
          <p:nvPr/>
        </p:nvSpPr>
        <p:spPr>
          <a:xfrm>
            <a:off x="635000" y="1778000"/>
            <a:ext cx="2413000" cy="406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L0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Plan and scope</a:t>
            </a:r>
            <a:endParaRPr/>
          </a:p>
        </p:txBody>
      </p:sp>
      <p:sp>
        <p:nvSpPr>
          <p:cNvPr id="438" name="Google Shape;438;p50"/>
          <p:cNvSpPr/>
          <p:nvPr/>
        </p:nvSpPr>
        <p:spPr>
          <a:xfrm>
            <a:off x="3048000" y="17780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Keep changes small; review the plan before generating code</a:t>
            </a:r>
            <a:endParaRPr/>
          </a:p>
        </p:txBody>
      </p:sp>
      <p:sp>
        <p:nvSpPr>
          <p:cNvPr id="439" name="Google Shape;439;p50"/>
          <p:cNvSpPr/>
          <p:nvPr/>
        </p:nvSpPr>
        <p:spPr>
          <a:xfrm>
            <a:off x="635000" y="22479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 the obvious</a:t>
            </a:r>
            <a:endParaRPr/>
          </a:p>
        </p:txBody>
      </p:sp>
      <p:sp>
        <p:nvSpPr>
          <p:cNvPr id="440" name="Google Shape;440;p50"/>
          <p:cNvSpPr/>
          <p:nvPr/>
        </p:nvSpPr>
        <p:spPr>
          <a:xfrm>
            <a:off x="3048000" y="22479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Hooks run lint, format, type check, secret scan per commit</a:t>
            </a:r>
            <a:endParaRPr/>
          </a:p>
        </p:txBody>
      </p:sp>
      <p:sp>
        <p:nvSpPr>
          <p:cNvPr id="441" name="Google Shape;441;p50"/>
          <p:cNvSpPr/>
          <p:nvPr/>
        </p:nvSpPr>
        <p:spPr>
          <a:xfrm>
            <a:off x="635000" y="27178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 self-review</a:t>
            </a:r>
            <a:endParaRPr/>
          </a:p>
        </p:txBody>
      </p:sp>
      <p:sp>
        <p:nvSpPr>
          <p:cNvPr id="442" name="Google Shape;442;p50"/>
          <p:cNvSpPr/>
          <p:nvPr/>
        </p:nvSpPr>
        <p:spPr>
          <a:xfrm>
            <a:off x="3048000" y="27178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Run it, read your diff as a stranger, disclose AI use</a:t>
            </a:r>
            <a:endParaRPr/>
          </a:p>
        </p:txBody>
      </p:sp>
      <p:sp>
        <p:nvSpPr>
          <p:cNvPr id="443" name="Google Shape;443;p50"/>
          <p:cNvSpPr/>
          <p:nvPr/>
        </p:nvSpPr>
        <p:spPr>
          <a:xfrm>
            <a:off x="635000" y="31877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safety net</a:t>
            </a:r>
            <a:endParaRPr/>
          </a:p>
        </p:txBody>
      </p:sp>
      <p:sp>
        <p:nvSpPr>
          <p:cNvPr id="444" name="Google Shape;444;p50"/>
          <p:cNvSpPr/>
          <p:nvPr/>
        </p:nvSpPr>
        <p:spPr>
          <a:xfrm>
            <a:off x="3048000" y="31877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Full test suite and security scans on every pull request</a:t>
            </a:r>
            <a:endParaRPr/>
          </a:p>
        </p:txBody>
      </p:sp>
      <p:sp>
        <p:nvSpPr>
          <p:cNvPr id="445" name="Google Shape;445;p50"/>
          <p:cNvSpPr/>
          <p:nvPr/>
        </p:nvSpPr>
        <p:spPr>
          <a:xfrm>
            <a:off x="635000" y="36576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L4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/>
          </a:p>
        </p:txBody>
      </p:sp>
      <p:sp>
        <p:nvSpPr>
          <p:cNvPr id="446" name="Google Shape;446;p50"/>
          <p:cNvSpPr/>
          <p:nvPr/>
        </p:nvSpPr>
        <p:spPr>
          <a:xfrm>
            <a:off x="3048000" y="36576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Correctness, design, alignment; then tests, readability, style</a:t>
            </a:r>
            <a:endParaRPr/>
          </a:p>
        </p:txBody>
      </p:sp>
      <p:sp>
        <p:nvSpPr>
          <p:cNvPr id="447" name="Google Shape;447;p50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0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protocol: six layers of defense</a:t>
            </a:r>
            <a:endParaRPr/>
          </a:p>
        </p:txBody>
      </p:sp>
      <p:sp>
        <p:nvSpPr>
          <p:cNvPr id="454" name="Google Shape;454;p51"/>
          <p:cNvSpPr/>
          <p:nvPr/>
        </p:nvSpPr>
        <p:spPr>
          <a:xfrm>
            <a:off x="635000" y="1778000"/>
            <a:ext cx="2413000" cy="406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L0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Plan and scope</a:t>
            </a:r>
            <a:endParaRPr/>
          </a:p>
        </p:txBody>
      </p:sp>
      <p:sp>
        <p:nvSpPr>
          <p:cNvPr id="455" name="Google Shape;455;p51"/>
          <p:cNvSpPr/>
          <p:nvPr/>
        </p:nvSpPr>
        <p:spPr>
          <a:xfrm>
            <a:off x="3048000" y="17780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Keep changes small; review the plan before generating code</a:t>
            </a:r>
            <a:endParaRPr/>
          </a:p>
        </p:txBody>
      </p:sp>
      <p:sp>
        <p:nvSpPr>
          <p:cNvPr id="456" name="Google Shape;456;p51"/>
          <p:cNvSpPr/>
          <p:nvPr/>
        </p:nvSpPr>
        <p:spPr>
          <a:xfrm>
            <a:off x="635000" y="22479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L1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 the obvious</a:t>
            </a:r>
            <a:endParaRPr/>
          </a:p>
        </p:txBody>
      </p:sp>
      <p:sp>
        <p:nvSpPr>
          <p:cNvPr id="457" name="Google Shape;457;p51"/>
          <p:cNvSpPr/>
          <p:nvPr/>
        </p:nvSpPr>
        <p:spPr>
          <a:xfrm>
            <a:off x="3048000" y="22479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Hooks run lint, format, type check, secret scan per commit</a:t>
            </a:r>
            <a:endParaRPr/>
          </a:p>
        </p:txBody>
      </p:sp>
      <p:sp>
        <p:nvSpPr>
          <p:cNvPr id="458" name="Google Shape;458;p51"/>
          <p:cNvSpPr/>
          <p:nvPr/>
        </p:nvSpPr>
        <p:spPr>
          <a:xfrm>
            <a:off x="635000" y="27178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L2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 self-review</a:t>
            </a:r>
            <a:endParaRPr/>
          </a:p>
        </p:txBody>
      </p:sp>
      <p:sp>
        <p:nvSpPr>
          <p:cNvPr id="459" name="Google Shape;459;p51"/>
          <p:cNvSpPr/>
          <p:nvPr/>
        </p:nvSpPr>
        <p:spPr>
          <a:xfrm>
            <a:off x="3048000" y="27178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Run it, read your diff as a stranger, disclose AI use</a:t>
            </a:r>
            <a:endParaRPr/>
          </a:p>
        </p:txBody>
      </p:sp>
      <p:sp>
        <p:nvSpPr>
          <p:cNvPr id="460" name="Google Shape;460;p51"/>
          <p:cNvSpPr/>
          <p:nvPr/>
        </p:nvSpPr>
        <p:spPr>
          <a:xfrm>
            <a:off x="635000" y="31877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L3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safety net</a:t>
            </a:r>
            <a:endParaRPr/>
          </a:p>
        </p:txBody>
      </p:sp>
      <p:sp>
        <p:nvSpPr>
          <p:cNvPr id="461" name="Google Shape;461;p51"/>
          <p:cNvSpPr/>
          <p:nvPr/>
        </p:nvSpPr>
        <p:spPr>
          <a:xfrm>
            <a:off x="3048000" y="31877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Full test suite and security scans on every pull request</a:t>
            </a:r>
            <a:endParaRPr/>
          </a:p>
        </p:txBody>
      </p:sp>
      <p:sp>
        <p:nvSpPr>
          <p:cNvPr id="462" name="Google Shape;462;p51"/>
          <p:cNvSpPr/>
          <p:nvPr/>
        </p:nvSpPr>
        <p:spPr>
          <a:xfrm>
            <a:off x="635000" y="3657600"/>
            <a:ext cx="2413000" cy="406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L4  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/>
          </a:p>
        </p:txBody>
      </p:sp>
      <p:sp>
        <p:nvSpPr>
          <p:cNvPr id="463" name="Google Shape;463;p51"/>
          <p:cNvSpPr/>
          <p:nvPr/>
        </p:nvSpPr>
        <p:spPr>
          <a:xfrm>
            <a:off x="3048000" y="36576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Correctness, design, alignment; then tests, readability, style</a:t>
            </a:r>
            <a:endParaRPr/>
          </a:p>
        </p:txBody>
      </p:sp>
      <p:sp>
        <p:nvSpPr>
          <p:cNvPr id="464" name="Google Shape;464;p51"/>
          <p:cNvSpPr/>
          <p:nvPr/>
        </p:nvSpPr>
        <p:spPr>
          <a:xfrm>
            <a:off x="635000" y="4127500"/>
            <a:ext cx="2413000" cy="406400"/>
          </a:xfrm>
          <a:prstGeom prst="rect">
            <a:avLst/>
          </a:prstGeom>
          <a:solidFill>
            <a:srgbClr val="CBC6CA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L5 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Sensitive-data pass</a:t>
            </a:r>
            <a:endParaRPr/>
          </a:p>
        </p:txBody>
      </p:sp>
      <p:sp>
        <p:nvSpPr>
          <p:cNvPr id="465" name="Google Shape;465;p51"/>
          <p:cNvSpPr/>
          <p:nvPr/>
        </p:nvSpPr>
        <p:spPr>
          <a:xfrm>
            <a:off x="3048000" y="4127500"/>
            <a:ext cx="5461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Adversarial pass for sensitive data, auth, or ML</a:t>
            </a:r>
            <a:endParaRPr/>
          </a:p>
        </p:txBody>
      </p:sp>
      <p:sp>
        <p:nvSpPr>
          <p:cNvPr id="466" name="Google Shape;466;p51"/>
          <p:cNvSpPr/>
          <p:nvPr/>
        </p:nvSpPr>
        <p:spPr>
          <a:xfrm>
            <a:off x="635000" y="1117600"/>
            <a:ext cx="50800" cy="508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1"/>
          <p:cNvSpPr/>
          <p:nvPr/>
        </p:nvSpPr>
        <p:spPr>
          <a:xfrm>
            <a:off x="685800" y="1117600"/>
            <a:ext cx="78232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Golden rule: 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approve a change once it improves code health; do not demand perfection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2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Layer 5: the sensitive-data pass</a:t>
            </a:r>
            <a:endParaRPr/>
          </a:p>
        </p:txBody>
      </p:sp>
      <p:sp>
        <p:nvSpPr>
          <p:cNvPr id="473" name="Google Shape;473;p52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Required for: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patient data, auth, data access, de-identification, ML, secure compute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3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Layer 5: the sensitive-data pass</a:t>
            </a:r>
            <a:endParaRPr/>
          </a:p>
        </p:txBody>
      </p:sp>
      <p:sp>
        <p:nvSpPr>
          <p:cNvPr id="479" name="Google Shape;479;p53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Required for: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patient data, auth, data access, de-identification, ML, secure compute</a:t>
            </a:r>
            <a:endParaRPr/>
          </a:p>
        </p:txBody>
      </p:sp>
      <p:sp>
        <p:nvSpPr>
          <p:cNvPr id="480" name="Google Shape;480;p53"/>
          <p:cNvSpPr/>
          <p:nvPr/>
        </p:nvSpPr>
        <p:spPr>
          <a:xfrm>
            <a:off x="635000" y="1676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Attacker hat: </a:t>
            </a:r>
            <a:r>
              <a:rPr b="1" i="0" lang="en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STRIDE-lite</a:t>
            </a: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, six yes or no questions</a:t>
            </a:r>
            <a:endParaRPr/>
          </a:p>
        </p:txBody>
      </p:sp>
      <p:sp>
        <p:nvSpPr>
          <p:cNvPr id="481" name="Google Shape;481;p53"/>
          <p:cNvSpPr/>
          <p:nvPr/>
        </p:nvSpPr>
        <p:spPr>
          <a:xfrm>
            <a:off x="635000" y="19558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3"/>
          <p:cNvSpPr/>
          <p:nvPr/>
        </p:nvSpPr>
        <p:spPr>
          <a:xfrm>
            <a:off x="685800" y="19558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Spoof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someone pose as another user?</a:t>
            </a:r>
            <a:endParaRPr/>
          </a:p>
        </p:txBody>
      </p:sp>
      <p:sp>
        <p:nvSpPr>
          <p:cNvPr id="483" name="Google Shape;483;p53"/>
          <p:cNvSpPr/>
          <p:nvPr/>
        </p:nvSpPr>
        <p:spPr>
          <a:xfrm>
            <a:off x="2984500" y="19558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3"/>
          <p:cNvSpPr/>
          <p:nvPr/>
        </p:nvSpPr>
        <p:spPr>
          <a:xfrm>
            <a:off x="3035300" y="19558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Tamper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data change undetected?</a:t>
            </a:r>
            <a:endParaRPr/>
          </a:p>
        </p:txBody>
      </p:sp>
      <p:sp>
        <p:nvSpPr>
          <p:cNvPr id="485" name="Google Shape;485;p53"/>
          <p:cNvSpPr/>
          <p:nvPr/>
        </p:nvSpPr>
        <p:spPr>
          <a:xfrm>
            <a:off x="635000" y="28194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3"/>
          <p:cNvSpPr/>
          <p:nvPr/>
        </p:nvSpPr>
        <p:spPr>
          <a:xfrm>
            <a:off x="685800" y="28194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Repudiate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actions be denied later?</a:t>
            </a:r>
            <a:endParaRPr/>
          </a:p>
        </p:txBody>
      </p:sp>
      <p:sp>
        <p:nvSpPr>
          <p:cNvPr id="487" name="Google Shape;487;p53"/>
          <p:cNvSpPr/>
          <p:nvPr/>
        </p:nvSpPr>
        <p:spPr>
          <a:xfrm>
            <a:off x="2984500" y="28194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3"/>
          <p:cNvSpPr/>
          <p:nvPr/>
        </p:nvSpPr>
        <p:spPr>
          <a:xfrm>
            <a:off x="3035300" y="28194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Disclose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data reach the wrong person?</a:t>
            </a:r>
            <a:endParaRPr/>
          </a:p>
        </p:txBody>
      </p:sp>
      <p:sp>
        <p:nvSpPr>
          <p:cNvPr id="489" name="Google Shape;489;p53"/>
          <p:cNvSpPr/>
          <p:nvPr/>
        </p:nvSpPr>
        <p:spPr>
          <a:xfrm>
            <a:off x="635000" y="36830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3"/>
          <p:cNvSpPr/>
          <p:nvPr/>
        </p:nvSpPr>
        <p:spPr>
          <a:xfrm>
            <a:off x="685800" y="36830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Deny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the service be knocked out?</a:t>
            </a:r>
            <a:endParaRPr/>
          </a:p>
        </p:txBody>
      </p:sp>
      <p:sp>
        <p:nvSpPr>
          <p:cNvPr id="491" name="Google Shape;491;p53"/>
          <p:cNvSpPr/>
          <p:nvPr/>
        </p:nvSpPr>
        <p:spPr>
          <a:xfrm>
            <a:off x="2984500" y="36830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3"/>
          <p:cNvSpPr/>
          <p:nvPr/>
        </p:nvSpPr>
        <p:spPr>
          <a:xfrm>
            <a:off x="3035300" y="36830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Escalate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a user gain extra rights?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Layer 5: the sensitive-data pass</a:t>
            </a:r>
            <a:endParaRPr/>
          </a:p>
        </p:txBody>
      </p:sp>
      <p:sp>
        <p:nvSpPr>
          <p:cNvPr id="498" name="Google Shape;498;p54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Required for: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patient data, auth, data access, de-identification, ML, secure compute</a:t>
            </a:r>
            <a:endParaRPr/>
          </a:p>
        </p:txBody>
      </p:sp>
      <p:sp>
        <p:nvSpPr>
          <p:cNvPr id="499" name="Google Shape;499;p54"/>
          <p:cNvSpPr/>
          <p:nvPr/>
        </p:nvSpPr>
        <p:spPr>
          <a:xfrm>
            <a:off x="635000" y="1676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Attacker hat: </a:t>
            </a:r>
            <a:r>
              <a:rPr b="1" lang="en" sz="12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STRIDE-lite</a:t>
            </a: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, six yes or no questions</a:t>
            </a:r>
            <a:endParaRPr/>
          </a:p>
        </p:txBody>
      </p:sp>
      <p:sp>
        <p:nvSpPr>
          <p:cNvPr id="500" name="Google Shape;500;p54"/>
          <p:cNvSpPr/>
          <p:nvPr/>
        </p:nvSpPr>
        <p:spPr>
          <a:xfrm>
            <a:off x="635000" y="19558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4"/>
          <p:cNvSpPr/>
          <p:nvPr/>
        </p:nvSpPr>
        <p:spPr>
          <a:xfrm>
            <a:off x="685800" y="19558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Spoof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someone pose as another user?</a:t>
            </a:r>
            <a:endParaRPr/>
          </a:p>
        </p:txBody>
      </p:sp>
      <p:sp>
        <p:nvSpPr>
          <p:cNvPr id="502" name="Google Shape;502;p54"/>
          <p:cNvSpPr/>
          <p:nvPr/>
        </p:nvSpPr>
        <p:spPr>
          <a:xfrm>
            <a:off x="2984500" y="19558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4"/>
          <p:cNvSpPr/>
          <p:nvPr/>
        </p:nvSpPr>
        <p:spPr>
          <a:xfrm>
            <a:off x="3035300" y="19558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Tamper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data change undetected?</a:t>
            </a:r>
            <a:endParaRPr/>
          </a:p>
        </p:txBody>
      </p:sp>
      <p:sp>
        <p:nvSpPr>
          <p:cNvPr id="504" name="Google Shape;504;p54"/>
          <p:cNvSpPr/>
          <p:nvPr/>
        </p:nvSpPr>
        <p:spPr>
          <a:xfrm>
            <a:off x="635000" y="28194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4"/>
          <p:cNvSpPr/>
          <p:nvPr/>
        </p:nvSpPr>
        <p:spPr>
          <a:xfrm>
            <a:off x="685800" y="28194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Repudiate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actions be denied later?</a:t>
            </a:r>
            <a:endParaRPr/>
          </a:p>
        </p:txBody>
      </p:sp>
      <p:sp>
        <p:nvSpPr>
          <p:cNvPr id="506" name="Google Shape;506;p54"/>
          <p:cNvSpPr/>
          <p:nvPr/>
        </p:nvSpPr>
        <p:spPr>
          <a:xfrm>
            <a:off x="2984500" y="28194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4"/>
          <p:cNvSpPr/>
          <p:nvPr/>
        </p:nvSpPr>
        <p:spPr>
          <a:xfrm>
            <a:off x="3035300" y="28194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Disclose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data reach the wrong person?</a:t>
            </a:r>
            <a:endParaRPr/>
          </a:p>
        </p:txBody>
      </p:sp>
      <p:sp>
        <p:nvSpPr>
          <p:cNvPr id="508" name="Google Shape;508;p54"/>
          <p:cNvSpPr/>
          <p:nvPr/>
        </p:nvSpPr>
        <p:spPr>
          <a:xfrm>
            <a:off x="635000" y="36830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4"/>
          <p:cNvSpPr/>
          <p:nvPr/>
        </p:nvSpPr>
        <p:spPr>
          <a:xfrm>
            <a:off x="685800" y="36830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Deny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the service be knocked out?</a:t>
            </a:r>
            <a:endParaRPr/>
          </a:p>
        </p:txBody>
      </p:sp>
      <p:sp>
        <p:nvSpPr>
          <p:cNvPr id="510" name="Google Shape;510;p54"/>
          <p:cNvSpPr/>
          <p:nvPr/>
        </p:nvSpPr>
        <p:spPr>
          <a:xfrm>
            <a:off x="2984500" y="3683000"/>
            <a:ext cx="50800" cy="7620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4"/>
          <p:cNvSpPr/>
          <p:nvPr/>
        </p:nvSpPr>
        <p:spPr>
          <a:xfrm>
            <a:off x="3035300" y="3683000"/>
            <a:ext cx="21717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Escalate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Can a user gain extra rights?</a:t>
            </a:r>
            <a:endParaRPr/>
          </a:p>
        </p:txBody>
      </p:sp>
      <p:sp>
        <p:nvSpPr>
          <p:cNvPr id="512" name="Google Shape;512;p54"/>
          <p:cNvSpPr/>
          <p:nvPr/>
        </p:nvSpPr>
        <p:spPr>
          <a:xfrm>
            <a:off x="5461000" y="1676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79A0"/>
                </a:solidFill>
                <a:latin typeface="Arial"/>
                <a:ea typeface="Arial"/>
                <a:cs typeface="Arial"/>
                <a:sym typeface="Arial"/>
              </a:rPr>
              <a:t>Defender follow-up</a:t>
            </a:r>
            <a:endParaRPr/>
          </a:p>
        </p:txBody>
      </p:sp>
      <p:sp>
        <p:nvSpPr>
          <p:cNvPr id="513" name="Google Shape;513;p54"/>
          <p:cNvSpPr/>
          <p:nvPr/>
        </p:nvSpPr>
        <p:spPr>
          <a:xfrm>
            <a:off x="5461000" y="1955800"/>
            <a:ext cx="3048000" cy="16256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127000" lIns="177800" spcFirstLastPara="1" rIns="177800" wrap="square" tIns="1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Would our logs or alerts catch it?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not, file a </a:t>
            </a:r>
            <a:r>
              <a:rPr b="1" i="0" lang="en" sz="1400" u="none" cap="none" strike="noStrike">
                <a:solidFill>
                  <a:srgbClr val="00B5E2"/>
                </a:solidFill>
                <a:latin typeface="Arial"/>
                <a:ea typeface="Arial"/>
                <a:cs typeface="Arial"/>
                <a:sym typeface="Arial"/>
              </a:rPr>
              <a:t>detection gap</a:t>
            </a: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Human review: calibrate to risk, label clearly</a:t>
            </a:r>
            <a:endParaRPr/>
          </a:p>
        </p:txBody>
      </p:sp>
      <p:sp>
        <p:nvSpPr>
          <p:cNvPr id="519" name="Google Shape;519;p55"/>
          <p:cNvSpPr/>
          <p:nvPr/>
        </p:nvSpPr>
        <p:spPr>
          <a:xfrm>
            <a:off x="635000" y="1143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Calibrate depth to blast radius</a:t>
            </a:r>
            <a:endParaRPr/>
          </a:p>
        </p:txBody>
      </p:sp>
      <p:sp>
        <p:nvSpPr>
          <p:cNvPr id="520" name="Google Shape;520;p55"/>
          <p:cNvSpPr/>
          <p:nvPr/>
        </p:nvSpPr>
        <p:spPr>
          <a:xfrm>
            <a:off x="635000" y="1422400"/>
            <a:ext cx="3810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  ·  conceptual review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Docs, tests, isolated helpers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6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Human review: calibrate to risk, label clearly</a:t>
            </a:r>
            <a:endParaRPr/>
          </a:p>
        </p:txBody>
      </p:sp>
      <p:sp>
        <p:nvSpPr>
          <p:cNvPr id="526" name="Google Shape;526;p56"/>
          <p:cNvSpPr/>
          <p:nvPr/>
        </p:nvSpPr>
        <p:spPr>
          <a:xfrm>
            <a:off x="635000" y="1143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Calibrate depth to blast radius</a:t>
            </a:r>
            <a:endParaRPr/>
          </a:p>
        </p:txBody>
      </p:sp>
      <p:sp>
        <p:nvSpPr>
          <p:cNvPr id="527" name="Google Shape;527;p56"/>
          <p:cNvSpPr/>
          <p:nvPr/>
        </p:nvSpPr>
        <p:spPr>
          <a:xfrm>
            <a:off x="635000" y="1422400"/>
            <a:ext cx="3810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  ·  conceptual review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Docs, tests, isolated helpers</a:t>
            </a:r>
            <a:endParaRPr/>
          </a:p>
        </p:txBody>
      </p:sp>
      <p:sp>
        <p:nvSpPr>
          <p:cNvPr id="528" name="Google Shape;528;p56"/>
          <p:cNvSpPr/>
          <p:nvPr/>
        </p:nvSpPr>
        <p:spPr>
          <a:xfrm>
            <a:off x="635000" y="2565400"/>
            <a:ext cx="3810000" cy="1041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risk</a:t>
            </a: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line by 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Shared code, migrations, auth, APIs, infra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7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Human review: calibrate to risk, label clearly</a:t>
            </a:r>
            <a:endParaRPr/>
          </a:p>
        </p:txBody>
      </p:sp>
      <p:sp>
        <p:nvSpPr>
          <p:cNvPr id="534" name="Google Shape;534;p57"/>
          <p:cNvSpPr/>
          <p:nvPr/>
        </p:nvSpPr>
        <p:spPr>
          <a:xfrm>
            <a:off x="635000" y="1143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Calibrate depth to blast radius</a:t>
            </a:r>
            <a:endParaRPr/>
          </a:p>
        </p:txBody>
      </p:sp>
      <p:sp>
        <p:nvSpPr>
          <p:cNvPr id="535" name="Google Shape;535;p57"/>
          <p:cNvSpPr/>
          <p:nvPr/>
        </p:nvSpPr>
        <p:spPr>
          <a:xfrm>
            <a:off x="635000" y="1422400"/>
            <a:ext cx="3810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  ·  conceptual review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Docs, tests, isolated helpers</a:t>
            </a:r>
            <a:endParaRPr/>
          </a:p>
        </p:txBody>
      </p:sp>
      <p:sp>
        <p:nvSpPr>
          <p:cNvPr id="536" name="Google Shape;536;p57"/>
          <p:cNvSpPr/>
          <p:nvPr/>
        </p:nvSpPr>
        <p:spPr>
          <a:xfrm>
            <a:off x="635000" y="2565400"/>
            <a:ext cx="3810000" cy="1041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risk</a:t>
            </a: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line by 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Shared code, migrations, auth, APIs, infra</a:t>
            </a:r>
            <a:endParaRPr/>
          </a:p>
        </p:txBody>
      </p:sp>
      <p:sp>
        <p:nvSpPr>
          <p:cNvPr id="537" name="Google Shape;537;p57"/>
          <p:cNvSpPr/>
          <p:nvPr/>
        </p:nvSpPr>
        <p:spPr>
          <a:xfrm>
            <a:off x="635000" y="3733800"/>
            <a:ext cx="50800" cy="7874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7"/>
          <p:cNvSpPr/>
          <p:nvPr/>
        </p:nvSpPr>
        <p:spPr>
          <a:xfrm>
            <a:off x="787400" y="37338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Sensitive data is always high risk,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whatever the tier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8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Human review: calibrate to risk, label clearly</a:t>
            </a:r>
            <a:endParaRPr/>
          </a:p>
        </p:txBody>
      </p:sp>
      <p:sp>
        <p:nvSpPr>
          <p:cNvPr id="544" name="Google Shape;544;p58"/>
          <p:cNvSpPr/>
          <p:nvPr/>
        </p:nvSpPr>
        <p:spPr>
          <a:xfrm>
            <a:off x="635000" y="1143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Calibrate depth to blast radius</a:t>
            </a:r>
            <a:endParaRPr/>
          </a:p>
        </p:txBody>
      </p:sp>
      <p:sp>
        <p:nvSpPr>
          <p:cNvPr id="545" name="Google Shape;545;p58"/>
          <p:cNvSpPr/>
          <p:nvPr/>
        </p:nvSpPr>
        <p:spPr>
          <a:xfrm>
            <a:off x="635000" y="1422400"/>
            <a:ext cx="3810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  ·  conceptual review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Docs, tests, isolated helpers</a:t>
            </a:r>
            <a:endParaRPr/>
          </a:p>
        </p:txBody>
      </p:sp>
      <p:sp>
        <p:nvSpPr>
          <p:cNvPr id="546" name="Google Shape;546;p58"/>
          <p:cNvSpPr/>
          <p:nvPr/>
        </p:nvSpPr>
        <p:spPr>
          <a:xfrm>
            <a:off x="635000" y="2565400"/>
            <a:ext cx="3810000" cy="10414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76200" lIns="177800" spcFirstLastPara="1" rIns="1778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risk</a:t>
            </a: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line by 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Shared code, migrations, auth, APIs, infra</a:t>
            </a:r>
            <a:endParaRPr/>
          </a:p>
        </p:txBody>
      </p:sp>
      <p:sp>
        <p:nvSpPr>
          <p:cNvPr id="547" name="Google Shape;547;p58"/>
          <p:cNvSpPr/>
          <p:nvPr/>
        </p:nvSpPr>
        <p:spPr>
          <a:xfrm>
            <a:off x="635000" y="3733800"/>
            <a:ext cx="50800" cy="7874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8"/>
          <p:cNvSpPr/>
          <p:nvPr/>
        </p:nvSpPr>
        <p:spPr>
          <a:xfrm>
            <a:off x="787400" y="37338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Sensitive data is always high risk,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whatever the tier</a:t>
            </a:r>
            <a:endParaRPr/>
          </a:p>
        </p:txBody>
      </p:sp>
      <p:sp>
        <p:nvSpPr>
          <p:cNvPr id="549" name="Google Shape;549;p58"/>
          <p:cNvSpPr/>
          <p:nvPr/>
        </p:nvSpPr>
        <p:spPr>
          <a:xfrm>
            <a:off x="4826000" y="11430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Label every comment (Conventional Comments)</a:t>
            </a:r>
            <a:endParaRPr/>
          </a:p>
        </p:txBody>
      </p:sp>
      <p:sp>
        <p:nvSpPr>
          <p:cNvPr id="550" name="Google Shape;550;p58"/>
          <p:cNvSpPr/>
          <p:nvPr/>
        </p:nvSpPr>
        <p:spPr>
          <a:xfrm>
            <a:off x="4826000" y="1422400"/>
            <a:ext cx="50800" cy="5334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8"/>
          <p:cNvSpPr/>
          <p:nvPr/>
        </p:nvSpPr>
        <p:spPr>
          <a:xfrm>
            <a:off x="4953000" y="1422400"/>
            <a:ext cx="3556000" cy="533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27000" spcFirstLastPara="1" rIns="127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issue (blocking):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 Token logged in plain text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Reviewing AI-generated code</a:t>
            </a:r>
            <a:endParaRPr/>
          </a:p>
        </p:txBody>
      </p:sp>
      <p:sp>
        <p:nvSpPr>
          <p:cNvPr id="557" name="Google Shape;557;p59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Treat it like a confident junior developer's work: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fast, over-confident, must be verified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0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Reviewing AI-generated code</a:t>
            </a:r>
            <a:endParaRPr/>
          </a:p>
        </p:txBody>
      </p:sp>
      <p:sp>
        <p:nvSpPr>
          <p:cNvPr id="563" name="Google Shape;563;p60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Treat it like a confident junior developer's work: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fast, over-confident, must be verified</a:t>
            </a:r>
            <a:endParaRPr/>
          </a:p>
        </p:txBody>
      </p:sp>
      <p:sp>
        <p:nvSpPr>
          <p:cNvPr id="564" name="Google Shape;564;p60"/>
          <p:cNvSpPr/>
          <p:nvPr/>
        </p:nvSpPr>
        <p:spPr>
          <a:xfrm>
            <a:off x="6350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Spend less on</a:t>
            </a:r>
            <a:endParaRPr/>
          </a:p>
        </p:txBody>
      </p:sp>
      <p:sp>
        <p:nvSpPr>
          <p:cNvPr id="565" name="Google Shape;565;p60"/>
          <p:cNvSpPr/>
          <p:nvPr/>
        </p:nvSpPr>
        <p:spPr>
          <a:xfrm>
            <a:off x="635000" y="20828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/>
          </a:p>
        </p:txBody>
      </p:sp>
      <p:sp>
        <p:nvSpPr>
          <p:cNvPr id="566" name="Google Shape;566;p60"/>
          <p:cNvSpPr/>
          <p:nvPr/>
        </p:nvSpPr>
        <p:spPr>
          <a:xfrm>
            <a:off x="635000" y="26416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Formatting</a:t>
            </a:r>
            <a:endParaRPr/>
          </a:p>
        </p:txBody>
      </p:sp>
      <p:sp>
        <p:nvSpPr>
          <p:cNvPr id="567" name="Google Shape;567;p60"/>
          <p:cNvSpPr/>
          <p:nvPr/>
        </p:nvSpPr>
        <p:spPr>
          <a:xfrm>
            <a:off x="635000" y="32004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Naming nits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Reviewing AI-generated code</a:t>
            </a:r>
            <a:endParaRPr/>
          </a:p>
        </p:txBody>
      </p:sp>
      <p:sp>
        <p:nvSpPr>
          <p:cNvPr id="573" name="Google Shape;573;p61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Treat it like a confident junior developer's work: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fast, over-confident, must be verified</a:t>
            </a:r>
            <a:endParaRPr/>
          </a:p>
        </p:txBody>
      </p:sp>
      <p:sp>
        <p:nvSpPr>
          <p:cNvPr id="574" name="Google Shape;574;p61"/>
          <p:cNvSpPr/>
          <p:nvPr/>
        </p:nvSpPr>
        <p:spPr>
          <a:xfrm>
            <a:off x="6350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Spend less on</a:t>
            </a:r>
            <a:endParaRPr/>
          </a:p>
        </p:txBody>
      </p:sp>
      <p:sp>
        <p:nvSpPr>
          <p:cNvPr id="575" name="Google Shape;575;p61"/>
          <p:cNvSpPr/>
          <p:nvPr/>
        </p:nvSpPr>
        <p:spPr>
          <a:xfrm>
            <a:off x="26035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Spend more on</a:t>
            </a:r>
            <a:endParaRPr/>
          </a:p>
        </p:txBody>
      </p:sp>
      <p:sp>
        <p:nvSpPr>
          <p:cNvPr id="576" name="Google Shape;576;p61"/>
          <p:cNvSpPr/>
          <p:nvPr/>
        </p:nvSpPr>
        <p:spPr>
          <a:xfrm>
            <a:off x="635000" y="20828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/>
          </a:p>
        </p:txBody>
      </p:sp>
      <p:sp>
        <p:nvSpPr>
          <p:cNvPr id="577" name="Google Shape;577;p61"/>
          <p:cNvSpPr/>
          <p:nvPr/>
        </p:nvSpPr>
        <p:spPr>
          <a:xfrm>
            <a:off x="635000" y="26416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Formatting</a:t>
            </a:r>
            <a:endParaRPr/>
          </a:p>
        </p:txBody>
      </p:sp>
      <p:sp>
        <p:nvSpPr>
          <p:cNvPr id="578" name="Google Shape;578;p61"/>
          <p:cNvSpPr/>
          <p:nvPr/>
        </p:nvSpPr>
        <p:spPr>
          <a:xfrm>
            <a:off x="635000" y="32004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Naming nits</a:t>
            </a:r>
            <a:endParaRPr/>
          </a:p>
        </p:txBody>
      </p:sp>
      <p:sp>
        <p:nvSpPr>
          <p:cNvPr id="579" name="Google Shape;579;p61"/>
          <p:cNvSpPr/>
          <p:nvPr/>
        </p:nvSpPr>
        <p:spPr>
          <a:xfrm>
            <a:off x="2603500" y="20828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sp>
        <p:nvSpPr>
          <p:cNvPr id="580" name="Google Shape;580;p61"/>
          <p:cNvSpPr/>
          <p:nvPr/>
        </p:nvSpPr>
        <p:spPr>
          <a:xfrm>
            <a:off x="2603500" y="26416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cases</a:t>
            </a:r>
            <a:endParaRPr/>
          </a:p>
        </p:txBody>
      </p:sp>
      <p:sp>
        <p:nvSpPr>
          <p:cNvPr id="581" name="Google Shape;581;p61"/>
          <p:cNvSpPr/>
          <p:nvPr/>
        </p:nvSpPr>
        <p:spPr>
          <a:xfrm>
            <a:off x="2603500" y="32004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582" name="Google Shape;582;p61"/>
          <p:cNvSpPr/>
          <p:nvPr/>
        </p:nvSpPr>
        <p:spPr>
          <a:xfrm>
            <a:off x="2603500" y="37592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Hallucinated APIs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2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Reviewing AI-generated code</a:t>
            </a:r>
            <a:endParaRPr/>
          </a:p>
        </p:txBody>
      </p:sp>
      <p:sp>
        <p:nvSpPr>
          <p:cNvPr id="588" name="Google Shape;588;p62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Treat it like a confident junior developer's work: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fast, over-confident, must be verified</a:t>
            </a:r>
            <a:endParaRPr/>
          </a:p>
        </p:txBody>
      </p:sp>
      <p:sp>
        <p:nvSpPr>
          <p:cNvPr id="589" name="Google Shape;589;p62"/>
          <p:cNvSpPr/>
          <p:nvPr/>
        </p:nvSpPr>
        <p:spPr>
          <a:xfrm>
            <a:off x="6350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Spend less on</a:t>
            </a:r>
            <a:endParaRPr/>
          </a:p>
        </p:txBody>
      </p:sp>
      <p:sp>
        <p:nvSpPr>
          <p:cNvPr id="590" name="Google Shape;590;p62"/>
          <p:cNvSpPr/>
          <p:nvPr/>
        </p:nvSpPr>
        <p:spPr>
          <a:xfrm>
            <a:off x="26035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Spend more on</a:t>
            </a:r>
            <a:endParaRPr/>
          </a:p>
        </p:txBody>
      </p:sp>
      <p:sp>
        <p:nvSpPr>
          <p:cNvPr id="591" name="Google Shape;591;p62"/>
          <p:cNvSpPr/>
          <p:nvPr/>
        </p:nvSpPr>
        <p:spPr>
          <a:xfrm>
            <a:off x="635000" y="20828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/>
          </a:p>
        </p:txBody>
      </p:sp>
      <p:sp>
        <p:nvSpPr>
          <p:cNvPr id="592" name="Google Shape;592;p62"/>
          <p:cNvSpPr/>
          <p:nvPr/>
        </p:nvSpPr>
        <p:spPr>
          <a:xfrm>
            <a:off x="635000" y="26416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Formatting</a:t>
            </a:r>
            <a:endParaRPr/>
          </a:p>
        </p:txBody>
      </p:sp>
      <p:sp>
        <p:nvSpPr>
          <p:cNvPr id="593" name="Google Shape;593;p62"/>
          <p:cNvSpPr/>
          <p:nvPr/>
        </p:nvSpPr>
        <p:spPr>
          <a:xfrm>
            <a:off x="635000" y="32004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Naming nits</a:t>
            </a:r>
            <a:endParaRPr/>
          </a:p>
        </p:txBody>
      </p:sp>
      <p:sp>
        <p:nvSpPr>
          <p:cNvPr id="594" name="Google Shape;594;p62"/>
          <p:cNvSpPr/>
          <p:nvPr/>
        </p:nvSpPr>
        <p:spPr>
          <a:xfrm>
            <a:off x="2603500" y="20828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sp>
        <p:nvSpPr>
          <p:cNvPr id="595" name="Google Shape;595;p62"/>
          <p:cNvSpPr/>
          <p:nvPr/>
        </p:nvSpPr>
        <p:spPr>
          <a:xfrm>
            <a:off x="2603500" y="26416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cases</a:t>
            </a:r>
            <a:endParaRPr/>
          </a:p>
        </p:txBody>
      </p:sp>
      <p:sp>
        <p:nvSpPr>
          <p:cNvPr id="596" name="Google Shape;596;p62"/>
          <p:cNvSpPr/>
          <p:nvPr/>
        </p:nvSpPr>
        <p:spPr>
          <a:xfrm>
            <a:off x="2603500" y="32004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597" name="Google Shape;597;p62"/>
          <p:cNvSpPr/>
          <p:nvPr/>
        </p:nvSpPr>
        <p:spPr>
          <a:xfrm>
            <a:off x="2603500" y="37592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Hallucinated APIs</a:t>
            </a:r>
            <a:endParaRPr/>
          </a:p>
        </p:txBody>
      </p:sp>
      <p:sp>
        <p:nvSpPr>
          <p:cNvPr id="598" name="Google Shape;598;p62"/>
          <p:cNvSpPr/>
          <p:nvPr/>
        </p:nvSpPr>
        <p:spPr>
          <a:xfrm>
            <a:off x="4826000" y="17018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How to review it</a:t>
            </a:r>
            <a:endParaRPr/>
          </a:p>
        </p:txBody>
      </p:sp>
      <p:sp>
        <p:nvSpPr>
          <p:cNvPr id="599" name="Google Shape;599;p62"/>
          <p:cNvSpPr/>
          <p:nvPr/>
        </p:nvSpPr>
        <p:spPr>
          <a:xfrm>
            <a:off x="4826000" y="2082800"/>
            <a:ext cx="50800" cy="6858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2"/>
          <p:cNvSpPr/>
          <p:nvPr/>
        </p:nvSpPr>
        <p:spPr>
          <a:xfrm>
            <a:off x="4876800" y="2082800"/>
            <a:ext cx="36322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Review by logical unit, not line order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Each piece looks clean while the design drifts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3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Reviewing AI-generated code</a:t>
            </a:r>
            <a:endParaRPr/>
          </a:p>
        </p:txBody>
      </p:sp>
      <p:sp>
        <p:nvSpPr>
          <p:cNvPr id="606" name="Google Shape;606;p63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Treat it like a confident junior developer's work: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fast, over-confident, must be verified</a:t>
            </a:r>
            <a:endParaRPr/>
          </a:p>
        </p:txBody>
      </p:sp>
      <p:sp>
        <p:nvSpPr>
          <p:cNvPr id="607" name="Google Shape;607;p63"/>
          <p:cNvSpPr/>
          <p:nvPr/>
        </p:nvSpPr>
        <p:spPr>
          <a:xfrm>
            <a:off x="6350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Spend less on</a:t>
            </a:r>
            <a:endParaRPr/>
          </a:p>
        </p:txBody>
      </p:sp>
      <p:sp>
        <p:nvSpPr>
          <p:cNvPr id="608" name="Google Shape;608;p63"/>
          <p:cNvSpPr/>
          <p:nvPr/>
        </p:nvSpPr>
        <p:spPr>
          <a:xfrm>
            <a:off x="26035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Spend more on</a:t>
            </a:r>
            <a:endParaRPr/>
          </a:p>
        </p:txBody>
      </p:sp>
      <p:sp>
        <p:nvSpPr>
          <p:cNvPr id="609" name="Google Shape;609;p63"/>
          <p:cNvSpPr/>
          <p:nvPr/>
        </p:nvSpPr>
        <p:spPr>
          <a:xfrm>
            <a:off x="635000" y="20828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/>
          </a:p>
        </p:txBody>
      </p:sp>
      <p:sp>
        <p:nvSpPr>
          <p:cNvPr id="610" name="Google Shape;610;p63"/>
          <p:cNvSpPr/>
          <p:nvPr/>
        </p:nvSpPr>
        <p:spPr>
          <a:xfrm>
            <a:off x="635000" y="26416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Formatting</a:t>
            </a:r>
            <a:endParaRPr/>
          </a:p>
        </p:txBody>
      </p:sp>
      <p:sp>
        <p:nvSpPr>
          <p:cNvPr id="611" name="Google Shape;611;p63"/>
          <p:cNvSpPr/>
          <p:nvPr/>
        </p:nvSpPr>
        <p:spPr>
          <a:xfrm>
            <a:off x="635000" y="32004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Naming nits</a:t>
            </a:r>
            <a:endParaRPr/>
          </a:p>
        </p:txBody>
      </p:sp>
      <p:sp>
        <p:nvSpPr>
          <p:cNvPr id="612" name="Google Shape;612;p63"/>
          <p:cNvSpPr/>
          <p:nvPr/>
        </p:nvSpPr>
        <p:spPr>
          <a:xfrm>
            <a:off x="2603500" y="20828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sp>
        <p:nvSpPr>
          <p:cNvPr id="613" name="Google Shape;613;p63"/>
          <p:cNvSpPr/>
          <p:nvPr/>
        </p:nvSpPr>
        <p:spPr>
          <a:xfrm>
            <a:off x="2603500" y="26416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cases</a:t>
            </a:r>
            <a:endParaRPr/>
          </a:p>
        </p:txBody>
      </p:sp>
      <p:sp>
        <p:nvSpPr>
          <p:cNvPr id="614" name="Google Shape;614;p63"/>
          <p:cNvSpPr/>
          <p:nvPr/>
        </p:nvSpPr>
        <p:spPr>
          <a:xfrm>
            <a:off x="2603500" y="32004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615" name="Google Shape;615;p63"/>
          <p:cNvSpPr/>
          <p:nvPr/>
        </p:nvSpPr>
        <p:spPr>
          <a:xfrm>
            <a:off x="2603500" y="37592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Hallucinated APIs</a:t>
            </a:r>
            <a:endParaRPr/>
          </a:p>
        </p:txBody>
      </p:sp>
      <p:sp>
        <p:nvSpPr>
          <p:cNvPr id="616" name="Google Shape;616;p63"/>
          <p:cNvSpPr/>
          <p:nvPr/>
        </p:nvSpPr>
        <p:spPr>
          <a:xfrm>
            <a:off x="4826000" y="17018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How to review it</a:t>
            </a:r>
            <a:endParaRPr/>
          </a:p>
        </p:txBody>
      </p:sp>
      <p:sp>
        <p:nvSpPr>
          <p:cNvPr id="617" name="Google Shape;617;p63"/>
          <p:cNvSpPr/>
          <p:nvPr/>
        </p:nvSpPr>
        <p:spPr>
          <a:xfrm>
            <a:off x="4826000" y="2082800"/>
            <a:ext cx="50800" cy="6858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3"/>
          <p:cNvSpPr/>
          <p:nvPr/>
        </p:nvSpPr>
        <p:spPr>
          <a:xfrm>
            <a:off x="4876800" y="2082800"/>
            <a:ext cx="36322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Review by logical unit, not line order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Each piece looks clean while the design drifts</a:t>
            </a:r>
            <a:endParaRPr/>
          </a:p>
        </p:txBody>
      </p:sp>
      <p:sp>
        <p:nvSpPr>
          <p:cNvPr id="619" name="Google Shape;619;p63"/>
          <p:cNvSpPr/>
          <p:nvPr/>
        </p:nvSpPr>
        <p:spPr>
          <a:xfrm>
            <a:off x="4826000" y="2870200"/>
            <a:ext cx="50800" cy="6858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3"/>
          <p:cNvSpPr/>
          <p:nvPr/>
        </p:nvSpPr>
        <p:spPr>
          <a:xfrm>
            <a:off x="4876800" y="2870200"/>
            <a:ext cx="36322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Steer the agent while it generates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Often the highest-leverage moment, before the PR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4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Reviewing AI-generated code</a:t>
            </a:r>
            <a:endParaRPr/>
          </a:p>
        </p:txBody>
      </p:sp>
      <p:sp>
        <p:nvSpPr>
          <p:cNvPr id="626" name="Google Shape;626;p64"/>
          <p:cNvSpPr/>
          <p:nvPr/>
        </p:nvSpPr>
        <p:spPr>
          <a:xfrm>
            <a:off x="635000" y="1117600"/>
            <a:ext cx="7874000" cy="40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Treat it like a confident junior developer's work: </a:t>
            </a:r>
            <a:r>
              <a:rPr b="0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fast, over-confident, must be verified</a:t>
            </a:r>
            <a:endParaRPr/>
          </a:p>
        </p:txBody>
      </p:sp>
      <p:sp>
        <p:nvSpPr>
          <p:cNvPr id="627" name="Google Shape;627;p64"/>
          <p:cNvSpPr/>
          <p:nvPr/>
        </p:nvSpPr>
        <p:spPr>
          <a:xfrm>
            <a:off x="6350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Spend less on</a:t>
            </a:r>
            <a:endParaRPr/>
          </a:p>
        </p:txBody>
      </p:sp>
      <p:sp>
        <p:nvSpPr>
          <p:cNvPr id="628" name="Google Shape;628;p64"/>
          <p:cNvSpPr/>
          <p:nvPr/>
        </p:nvSpPr>
        <p:spPr>
          <a:xfrm>
            <a:off x="2603500" y="1701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Spend more on</a:t>
            </a:r>
            <a:endParaRPr/>
          </a:p>
        </p:txBody>
      </p:sp>
      <p:sp>
        <p:nvSpPr>
          <p:cNvPr id="629" name="Google Shape;629;p64"/>
          <p:cNvSpPr/>
          <p:nvPr/>
        </p:nvSpPr>
        <p:spPr>
          <a:xfrm>
            <a:off x="635000" y="20828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/>
          </a:p>
        </p:txBody>
      </p:sp>
      <p:sp>
        <p:nvSpPr>
          <p:cNvPr id="630" name="Google Shape;630;p64"/>
          <p:cNvSpPr/>
          <p:nvPr/>
        </p:nvSpPr>
        <p:spPr>
          <a:xfrm>
            <a:off x="635000" y="26416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Formatting</a:t>
            </a:r>
            <a:endParaRPr/>
          </a:p>
        </p:txBody>
      </p:sp>
      <p:sp>
        <p:nvSpPr>
          <p:cNvPr id="631" name="Google Shape;631;p64"/>
          <p:cNvSpPr/>
          <p:nvPr/>
        </p:nvSpPr>
        <p:spPr>
          <a:xfrm>
            <a:off x="635000" y="3200400"/>
            <a:ext cx="1841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Naming nits</a:t>
            </a:r>
            <a:endParaRPr/>
          </a:p>
        </p:txBody>
      </p:sp>
      <p:sp>
        <p:nvSpPr>
          <p:cNvPr id="632" name="Google Shape;632;p64"/>
          <p:cNvSpPr/>
          <p:nvPr/>
        </p:nvSpPr>
        <p:spPr>
          <a:xfrm>
            <a:off x="2603500" y="20828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/>
          </a:p>
        </p:txBody>
      </p:sp>
      <p:sp>
        <p:nvSpPr>
          <p:cNvPr id="633" name="Google Shape;633;p64"/>
          <p:cNvSpPr/>
          <p:nvPr/>
        </p:nvSpPr>
        <p:spPr>
          <a:xfrm>
            <a:off x="2603500" y="26416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cases</a:t>
            </a:r>
            <a:endParaRPr/>
          </a:p>
        </p:txBody>
      </p:sp>
      <p:sp>
        <p:nvSpPr>
          <p:cNvPr id="634" name="Google Shape;634;p64"/>
          <p:cNvSpPr/>
          <p:nvPr/>
        </p:nvSpPr>
        <p:spPr>
          <a:xfrm>
            <a:off x="2603500" y="32004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635" name="Google Shape;635;p64"/>
          <p:cNvSpPr/>
          <p:nvPr/>
        </p:nvSpPr>
        <p:spPr>
          <a:xfrm>
            <a:off x="2603500" y="3759200"/>
            <a:ext cx="1841500" cy="457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270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Hallucinated APIs</a:t>
            </a:r>
            <a:endParaRPr/>
          </a:p>
        </p:txBody>
      </p:sp>
      <p:sp>
        <p:nvSpPr>
          <p:cNvPr id="636" name="Google Shape;636;p64"/>
          <p:cNvSpPr/>
          <p:nvPr/>
        </p:nvSpPr>
        <p:spPr>
          <a:xfrm>
            <a:off x="4826000" y="1701800"/>
            <a:ext cx="368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How to review it</a:t>
            </a:r>
            <a:endParaRPr/>
          </a:p>
        </p:txBody>
      </p:sp>
      <p:sp>
        <p:nvSpPr>
          <p:cNvPr id="637" name="Google Shape;637;p64"/>
          <p:cNvSpPr/>
          <p:nvPr/>
        </p:nvSpPr>
        <p:spPr>
          <a:xfrm>
            <a:off x="4826000" y="2082800"/>
            <a:ext cx="50800" cy="6858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64"/>
          <p:cNvSpPr/>
          <p:nvPr/>
        </p:nvSpPr>
        <p:spPr>
          <a:xfrm>
            <a:off x="4876800" y="2082800"/>
            <a:ext cx="36322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Review by logical unit, not line order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Each piece looks clean while the design drifts</a:t>
            </a:r>
            <a:endParaRPr/>
          </a:p>
        </p:txBody>
      </p:sp>
      <p:sp>
        <p:nvSpPr>
          <p:cNvPr id="639" name="Google Shape;639;p64"/>
          <p:cNvSpPr/>
          <p:nvPr/>
        </p:nvSpPr>
        <p:spPr>
          <a:xfrm>
            <a:off x="4826000" y="2870200"/>
            <a:ext cx="50800" cy="6858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64"/>
          <p:cNvSpPr/>
          <p:nvPr/>
        </p:nvSpPr>
        <p:spPr>
          <a:xfrm>
            <a:off x="4876800" y="2870200"/>
            <a:ext cx="36322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Steer the agent while it generates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Often the highest-leverage moment, before the PR</a:t>
            </a:r>
            <a:endParaRPr/>
          </a:p>
        </p:txBody>
      </p:sp>
      <p:sp>
        <p:nvSpPr>
          <p:cNvPr id="641" name="Google Shape;641;p64"/>
          <p:cNvSpPr/>
          <p:nvPr/>
        </p:nvSpPr>
        <p:spPr>
          <a:xfrm>
            <a:off x="4826000" y="3657600"/>
            <a:ext cx="50800" cy="6858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64"/>
          <p:cNvSpPr/>
          <p:nvPr/>
        </p:nvSpPr>
        <p:spPr>
          <a:xfrm>
            <a:off x="4876800" y="3657600"/>
            <a:ext cx="36322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Require proof it ran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Tests, output, screenshots; not "it compiles"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5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AI pull request contract</a:t>
            </a:r>
            <a:endParaRPr/>
          </a:p>
        </p:txBody>
      </p:sp>
      <p:sp>
        <p:nvSpPr>
          <p:cNvPr id="648" name="Google Shape;648;p65"/>
          <p:cNvSpPr/>
          <p:nvPr/>
        </p:nvSpPr>
        <p:spPr>
          <a:xfrm>
            <a:off x="635000" y="1117600"/>
            <a:ext cx="2540000" cy="3378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B5E2"/>
                </a:solidFill>
                <a:latin typeface="Arial"/>
                <a:ea typeface="Arial"/>
                <a:cs typeface="Arial"/>
                <a:sym typeface="Arial"/>
              </a:rPr>
              <a:t>Human accountability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AI output takes effect without a named human gate.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author is responsible for every line.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6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AI pull request contract</a:t>
            </a:r>
            <a:endParaRPr/>
          </a:p>
        </p:txBody>
      </p:sp>
      <p:sp>
        <p:nvSpPr>
          <p:cNvPr id="654" name="Google Shape;654;p66"/>
          <p:cNvSpPr/>
          <p:nvPr/>
        </p:nvSpPr>
        <p:spPr>
          <a:xfrm>
            <a:off x="635000" y="1117600"/>
            <a:ext cx="2540000" cy="3378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B5E2"/>
                </a:solidFill>
                <a:latin typeface="Arial"/>
                <a:ea typeface="Arial"/>
                <a:cs typeface="Arial"/>
                <a:sym typeface="Arial"/>
              </a:rPr>
              <a:t>Human accountability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AI output takes effect without a named human gate.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author is responsible for every line.</a:t>
            </a:r>
            <a:endParaRPr/>
          </a:p>
        </p:txBody>
      </p:sp>
      <p:sp>
        <p:nvSpPr>
          <p:cNvPr id="655" name="Google Shape;655;p66"/>
          <p:cNvSpPr/>
          <p:nvPr/>
        </p:nvSpPr>
        <p:spPr>
          <a:xfrm>
            <a:off x="3429000" y="1117600"/>
            <a:ext cx="5080000" cy="337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66"/>
          <p:cNvSpPr/>
          <p:nvPr/>
        </p:nvSpPr>
        <p:spPr>
          <a:xfrm>
            <a:off x="3429000" y="1117600"/>
            <a:ext cx="5080000" cy="38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B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Pull request description</a:t>
            </a:r>
            <a:endParaRPr/>
          </a:p>
        </p:txBody>
      </p:sp>
      <p:sp>
        <p:nvSpPr>
          <p:cNvPr id="657" name="Google Shape;657;p66"/>
          <p:cNvSpPr/>
          <p:nvPr/>
        </p:nvSpPr>
        <p:spPr>
          <a:xfrm>
            <a:off x="3581400" y="1968500"/>
            <a:ext cx="203200" cy="20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1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66"/>
          <p:cNvSpPr/>
          <p:nvPr/>
        </p:nvSpPr>
        <p:spPr>
          <a:xfrm>
            <a:off x="3581400" y="1993900"/>
            <a:ext cx="20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59" name="Google Shape;659;p66"/>
          <p:cNvSpPr/>
          <p:nvPr/>
        </p:nvSpPr>
        <p:spPr>
          <a:xfrm>
            <a:off x="3886200" y="1854200"/>
            <a:ext cx="4495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Proof it runs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Tests, output, screenshots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7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The AI pull request contract</a:t>
            </a:r>
            <a:endParaRPr/>
          </a:p>
        </p:txBody>
      </p:sp>
      <p:sp>
        <p:nvSpPr>
          <p:cNvPr id="665" name="Google Shape;665;p67"/>
          <p:cNvSpPr/>
          <p:nvPr/>
        </p:nvSpPr>
        <p:spPr>
          <a:xfrm>
            <a:off x="635000" y="1117600"/>
            <a:ext cx="2540000" cy="3378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B5E2"/>
                </a:solidFill>
                <a:latin typeface="Arial"/>
                <a:ea typeface="Arial"/>
                <a:cs typeface="Arial"/>
                <a:sym typeface="Arial"/>
              </a:rPr>
              <a:t>Human accountability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AI output takes effect without a named human gate.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author is responsible for every line.</a:t>
            </a:r>
            <a:endParaRPr/>
          </a:p>
        </p:txBody>
      </p:sp>
      <p:sp>
        <p:nvSpPr>
          <p:cNvPr id="666" name="Google Shape;666;p67"/>
          <p:cNvSpPr/>
          <p:nvPr/>
        </p:nvSpPr>
        <p:spPr>
          <a:xfrm>
            <a:off x="3429000" y="1117600"/>
            <a:ext cx="5080000" cy="337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7"/>
          <p:cNvSpPr/>
          <p:nvPr/>
        </p:nvSpPr>
        <p:spPr>
          <a:xfrm>
            <a:off x="3429000" y="1117600"/>
            <a:ext cx="5080000" cy="38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B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Pull request description</a:t>
            </a:r>
            <a:endParaRPr/>
          </a:p>
        </p:txBody>
      </p:sp>
      <p:sp>
        <p:nvSpPr>
          <p:cNvPr id="668" name="Google Shape;668;p67"/>
          <p:cNvSpPr/>
          <p:nvPr/>
        </p:nvSpPr>
        <p:spPr>
          <a:xfrm>
            <a:off x="3581400" y="1968500"/>
            <a:ext cx="203200" cy="20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1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7"/>
          <p:cNvSpPr/>
          <p:nvPr/>
        </p:nvSpPr>
        <p:spPr>
          <a:xfrm>
            <a:off x="3581400" y="1993900"/>
            <a:ext cx="20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70" name="Google Shape;670;p67"/>
          <p:cNvSpPr/>
          <p:nvPr/>
        </p:nvSpPr>
        <p:spPr>
          <a:xfrm>
            <a:off x="3886200" y="1854200"/>
            <a:ext cx="4495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Proof it runs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Tests, output, screenshots</a:t>
            </a:r>
            <a:endParaRPr/>
          </a:p>
        </p:txBody>
      </p:sp>
      <p:sp>
        <p:nvSpPr>
          <p:cNvPr id="671" name="Google Shape;671;p67"/>
          <p:cNvSpPr/>
          <p:nvPr/>
        </p:nvSpPr>
        <p:spPr>
          <a:xfrm>
            <a:off x="3581400" y="3111500"/>
            <a:ext cx="203200" cy="20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1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67"/>
          <p:cNvSpPr/>
          <p:nvPr/>
        </p:nvSpPr>
        <p:spPr>
          <a:xfrm>
            <a:off x="3581400" y="3136900"/>
            <a:ext cx="20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673" name="Google Shape;673;p67"/>
          <p:cNvSpPr/>
          <p:nvPr/>
        </p:nvSpPr>
        <p:spPr>
          <a:xfrm>
            <a:off x="3886200" y="2997200"/>
            <a:ext cx="4495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AI disclosure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What the AI wrote; where I am least sure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8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Adopt it and keep it honest</a:t>
            </a:r>
            <a:endParaRPr/>
          </a:p>
        </p:txBody>
      </p:sp>
      <p:sp>
        <p:nvSpPr>
          <p:cNvPr id="679" name="Google Shape;679;p68"/>
          <p:cNvSpPr/>
          <p:nvPr/>
        </p:nvSpPr>
        <p:spPr>
          <a:xfrm>
            <a:off x="635000" y="1117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Start light, grow with the team</a:t>
            </a:r>
            <a:endParaRPr/>
          </a:p>
        </p:txBody>
      </p:sp>
      <p:sp>
        <p:nvSpPr>
          <p:cNvPr id="680" name="Google Shape;680;p68"/>
          <p:cNvSpPr/>
          <p:nvPr/>
        </p:nvSpPr>
        <p:spPr>
          <a:xfrm>
            <a:off x="635000" y="2590800"/>
            <a:ext cx="1625600" cy="19050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t" bIns="101600" lIns="127000" spcFirstLastPara="1" rIns="101600" wrap="square" tIns="1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Solo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Hooks, CI, self-review, PR template</a:t>
            </a:r>
            <a:endParaRPr/>
          </a:p>
        </p:txBody>
      </p:sp>
      <p:sp>
        <p:nvSpPr>
          <p:cNvPr id="681" name="Google Shape;681;p68"/>
          <p:cNvSpPr/>
          <p:nvPr/>
        </p:nvSpPr>
        <p:spPr>
          <a:xfrm>
            <a:off x="2336800" y="2032000"/>
            <a:ext cx="1625600" cy="24638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t" bIns="101600" lIns="127000" spcFirstLastPara="1" rIns="101600" wrap="square" tIns="1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Small team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required reviewer, rotate it, one-day response</a:t>
            </a:r>
            <a:endParaRPr/>
          </a:p>
        </p:txBody>
      </p:sp>
      <p:sp>
        <p:nvSpPr>
          <p:cNvPr id="682" name="Google Shape;682;p68"/>
          <p:cNvSpPr/>
          <p:nvPr/>
        </p:nvSpPr>
        <p:spPr>
          <a:xfrm>
            <a:off x="4038600" y="1473200"/>
            <a:ext cx="1625600" cy="30226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t" bIns="101600" lIns="127000" spcFirstLastPara="1" rIns="101600" wrap="square" tIns="1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CODEOWNERS and dual approval; no approval boards</a:t>
            </a:r>
            <a:endParaRPr/>
          </a:p>
        </p:txBody>
      </p:sp>
      <p:sp>
        <p:nvSpPr>
          <p:cNvPr id="683" name="Google Shape;683;p68"/>
          <p:cNvSpPr/>
          <p:nvPr/>
        </p:nvSpPr>
        <p:spPr>
          <a:xfrm>
            <a:off x="635000" y="14224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50032"/>
                </a:solidFill>
                <a:latin typeface="Arial"/>
                <a:ea typeface="Arial"/>
                <a:cs typeface="Arial"/>
                <a:sym typeface="Arial"/>
              </a:rPr>
              <a:t>Sensitive data at any size: </a:t>
            </a:r>
            <a:r>
              <a:rPr b="0" i="0" lang="en" sz="12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turn on Layer 5</a:t>
            </a:r>
            <a:endParaRPr/>
          </a:p>
        </p:txBody>
      </p:sp>
      <p:sp>
        <p:nvSpPr>
          <p:cNvPr id="684" name="Google Shape;684;p68"/>
          <p:cNvSpPr/>
          <p:nvPr/>
        </p:nvSpPr>
        <p:spPr>
          <a:xfrm>
            <a:off x="5969000" y="1117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Health checks</a:t>
            </a:r>
            <a:endParaRPr/>
          </a:p>
        </p:txBody>
      </p:sp>
      <p:sp>
        <p:nvSpPr>
          <p:cNvPr id="685" name="Google Shape;685;p68"/>
          <p:cNvSpPr/>
          <p:nvPr/>
        </p:nvSpPr>
        <p:spPr>
          <a:xfrm>
            <a:off x="5969000" y="1422400"/>
            <a:ext cx="50800" cy="7366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68"/>
          <p:cNvSpPr/>
          <p:nvPr/>
        </p:nvSpPr>
        <p:spPr>
          <a:xfrm>
            <a:off x="6019800" y="1422400"/>
            <a:ext cx="2489200" cy="736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127000" spcFirstLastPara="1" rIns="1016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Approvals under one hour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rPr>
              <a:t>A high rate signals rubber-stamping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9"/>
          <p:cNvSpPr txBox="1"/>
          <p:nvPr>
            <p:ph type="title"/>
          </p:nvPr>
        </p:nvSpPr>
        <p:spPr>
          <a:xfrm>
            <a:off x="628650" y="510778"/>
            <a:ext cx="78867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800">
                <a:solidFill>
                  <a:srgbClr val="D50032"/>
                </a:solidFill>
              </a:rPr>
              <a:t>Takeaways</a:t>
            </a:r>
            <a:endParaRPr/>
          </a:p>
        </p:txBody>
      </p:sp>
      <p:sp>
        <p:nvSpPr>
          <p:cNvPr id="692" name="Google Shape;692;p69"/>
          <p:cNvSpPr/>
          <p:nvPr/>
        </p:nvSpPr>
        <p:spPr>
          <a:xfrm>
            <a:off x="635000" y="1143000"/>
            <a:ext cx="1524000" cy="584200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txBody>
          <a:bodyPr anchorCtr="0" anchor="ctr" bIns="0" lIns="1524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/>
          </a:p>
        </p:txBody>
      </p:sp>
      <p:sp>
        <p:nvSpPr>
          <p:cNvPr id="693" name="Google Shape;693;p69"/>
          <p:cNvSpPr/>
          <p:nvPr/>
        </p:nvSpPr>
        <p:spPr>
          <a:xfrm>
            <a:off x="2159000" y="1143000"/>
            <a:ext cx="6350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778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Review is the core skill now; invest in it</a:t>
            </a:r>
            <a:endParaRPr/>
          </a:p>
        </p:txBody>
      </p:sp>
      <p:sp>
        <p:nvSpPr>
          <p:cNvPr id="694" name="Google Shape;694;p69"/>
          <p:cNvSpPr/>
          <p:nvPr/>
        </p:nvSpPr>
        <p:spPr>
          <a:xfrm>
            <a:off x="635000" y="1816100"/>
            <a:ext cx="1524000" cy="584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524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Layer</a:t>
            </a:r>
            <a:endParaRPr/>
          </a:p>
        </p:txBody>
      </p:sp>
      <p:sp>
        <p:nvSpPr>
          <p:cNvPr id="695" name="Google Shape;695;p69"/>
          <p:cNvSpPr/>
          <p:nvPr/>
        </p:nvSpPr>
        <p:spPr>
          <a:xfrm>
            <a:off x="2159000" y="1816100"/>
            <a:ext cx="6350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778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Cheap and automatic first, human judgment last; approve once code health improves</a:t>
            </a:r>
            <a:endParaRPr/>
          </a:p>
        </p:txBody>
      </p:sp>
      <p:sp>
        <p:nvSpPr>
          <p:cNvPr id="696" name="Google Shape;696;p69"/>
          <p:cNvSpPr/>
          <p:nvPr/>
        </p:nvSpPr>
        <p:spPr>
          <a:xfrm>
            <a:off x="635000" y="2489200"/>
            <a:ext cx="1524000" cy="584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524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Protect</a:t>
            </a:r>
            <a:endParaRPr/>
          </a:p>
        </p:txBody>
      </p:sp>
      <p:sp>
        <p:nvSpPr>
          <p:cNvPr id="697" name="Google Shape;697;p69"/>
          <p:cNvSpPr/>
          <p:nvPr/>
        </p:nvSpPr>
        <p:spPr>
          <a:xfrm>
            <a:off x="2159000" y="2489200"/>
            <a:ext cx="6350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778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Sensitive data earns an adversarial pass; solo developers automate and self-review with discipline</a:t>
            </a:r>
            <a:endParaRPr/>
          </a:p>
        </p:txBody>
      </p:sp>
      <p:sp>
        <p:nvSpPr>
          <p:cNvPr id="698" name="Google Shape;698;p69"/>
          <p:cNvSpPr/>
          <p:nvPr/>
        </p:nvSpPr>
        <p:spPr>
          <a:xfrm>
            <a:off x="635000" y="3162300"/>
            <a:ext cx="1524000" cy="584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524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code</a:t>
            </a:r>
            <a:endParaRPr/>
          </a:p>
        </p:txBody>
      </p:sp>
      <p:sp>
        <p:nvSpPr>
          <p:cNvPr id="699" name="Google Shape;699;p69"/>
          <p:cNvSpPr/>
          <p:nvPr/>
        </p:nvSpPr>
        <p:spPr>
          <a:xfrm>
            <a:off x="2159000" y="3162300"/>
            <a:ext cx="6350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778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Trust but verify, review live, require proof it ran, hold the human accountable</a:t>
            </a:r>
            <a:endParaRPr/>
          </a:p>
        </p:txBody>
      </p:sp>
      <p:sp>
        <p:nvSpPr>
          <p:cNvPr id="700" name="Google Shape;700;p69"/>
          <p:cNvSpPr/>
          <p:nvPr/>
        </p:nvSpPr>
        <p:spPr>
          <a:xfrm>
            <a:off x="635000" y="3835400"/>
            <a:ext cx="1524000" cy="584200"/>
          </a:xfrm>
          <a:prstGeom prst="rect">
            <a:avLst/>
          </a:prstGeom>
          <a:solidFill>
            <a:srgbClr val="001E61"/>
          </a:solidFill>
          <a:ln>
            <a:noFill/>
          </a:ln>
        </p:spPr>
        <p:txBody>
          <a:bodyPr anchorCtr="0" anchor="ctr" bIns="0" lIns="152400" spcFirstLastPara="1" rIns="1016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Augment</a:t>
            </a:r>
            <a:endParaRPr/>
          </a:p>
        </p:txBody>
      </p:sp>
      <p:sp>
        <p:nvSpPr>
          <p:cNvPr id="701" name="Google Shape;701;p69"/>
          <p:cNvSpPr/>
          <p:nvPr/>
        </p:nvSpPr>
        <p:spPr>
          <a:xfrm>
            <a:off x="2159000" y="3835400"/>
            <a:ext cx="6350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177800" spcFirstLastPara="1" rIns="152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1E61"/>
                </a:solidFill>
                <a:latin typeface="Arial"/>
                <a:ea typeface="Arial"/>
                <a:cs typeface="Arial"/>
                <a:sym typeface="Arial"/>
              </a:rPr>
              <a:t>Use AI tools to help review, never to replace the human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0"/>
          <p:cNvSpPr txBox="1"/>
          <p:nvPr>
            <p:ph type="title"/>
          </p:nvPr>
        </p:nvSpPr>
        <p:spPr>
          <a:xfrm>
            <a:off x="623875" y="554575"/>
            <a:ext cx="54663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</a:pPr>
            <a:r>
              <a:rPr lang="en" sz="4000"/>
              <a:t>Thank you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rPr b="0" lang="en" sz="2000"/>
              <a:t>Questions?</a:t>
            </a:r>
            <a:endParaRPr b="0" sz="2000"/>
          </a:p>
        </p:txBody>
      </p:sp>
      <p:sp>
        <p:nvSpPr>
          <p:cNvPr id="707" name="Google Shape;707;p70"/>
          <p:cNvSpPr txBox="1"/>
          <p:nvPr/>
        </p:nvSpPr>
        <p:spPr>
          <a:xfrm>
            <a:off x="623875" y="3001400"/>
            <a:ext cx="504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https://github.com/uicacer/code-review-guide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IC Red-Blue-Blue">
      <a:dk1>
        <a:srgbClr val="001E61"/>
      </a:dk1>
      <a:lt1>
        <a:srgbClr val="FFFFFF"/>
      </a:lt1>
      <a:dk2>
        <a:srgbClr val="002374"/>
      </a:dk2>
      <a:lt2>
        <a:srgbClr val="E7E6E6"/>
      </a:lt2>
      <a:accent1>
        <a:srgbClr val="D50032"/>
      </a:accent1>
      <a:accent2>
        <a:srgbClr val="00B5E2"/>
      </a:accent2>
      <a:accent3>
        <a:srgbClr val="001E66"/>
      </a:accent3>
      <a:accent4>
        <a:srgbClr val="CBC6CA"/>
      </a:accent4>
      <a:accent5>
        <a:srgbClr val="E7E4E4"/>
      </a:accent5>
      <a:accent6>
        <a:srgbClr val="FFFFFF"/>
      </a:accent6>
      <a:hlink>
        <a:srgbClr val="D50032"/>
      </a:hlink>
      <a:folHlink>
        <a:srgbClr val="001E6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